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f8e4daf074916" /><Relationship Type="http://schemas.openxmlformats.org/officeDocument/2006/relationships/extended-properties" Target="/docProps/app.xml" Id="R54944df5ad354ab9" /><Relationship Type="http://schemas.openxmlformats.org/officeDocument/2006/relationships/officeDocument" Target="/ppt/presentation.xml" Id="R809b6c168aae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3f44df8d6f4c4e"/>
  </p:sldMasterIdLst>
  <p:notesMasterIdLst>
    <p:notesMasterId xmlns:r="http://schemas.openxmlformats.org/officeDocument/2006/relationships" r:id="Rf8cfd4963b8a45ca"/>
  </p:notesMasterIdLst>
  <p:sldIdLst>
    <p:sldId xmlns:r="http://schemas.openxmlformats.org/officeDocument/2006/relationships" id="256" r:id="Re7c9cf294a264bc1"/>
    <p:sldId xmlns:r="http://schemas.openxmlformats.org/officeDocument/2006/relationships" id="257" r:id="Rd3d6e4fe658f4c95"/>
    <p:sldId xmlns:r="http://schemas.openxmlformats.org/officeDocument/2006/relationships" id="258" r:id="R2169a7e178ea4d48"/>
    <p:sldId xmlns:r="http://schemas.openxmlformats.org/officeDocument/2006/relationships" id="259" r:id="R32f447573b8a4dfc"/>
    <p:sldId xmlns:r="http://schemas.openxmlformats.org/officeDocument/2006/relationships" id="260" r:id="R9db968c9b8c94926"/>
    <p:sldId xmlns:r="http://schemas.openxmlformats.org/officeDocument/2006/relationships" id="261" r:id="R1aab3598c49e4f24"/>
    <p:sldId xmlns:r="http://schemas.openxmlformats.org/officeDocument/2006/relationships" id="262" r:id="Re8a91494c6db4cfd"/>
    <p:sldId xmlns:r="http://schemas.openxmlformats.org/officeDocument/2006/relationships" id="263" r:id="Rd659c453e0724367"/>
    <p:sldId xmlns:r="http://schemas.openxmlformats.org/officeDocument/2006/relationships" id="264" r:id="Rd2119e7162274914"/>
    <p:sldId xmlns:r="http://schemas.openxmlformats.org/officeDocument/2006/relationships" id="265" r:id="Reb22938acc004214"/>
    <p:sldId xmlns:r="http://schemas.openxmlformats.org/officeDocument/2006/relationships" id="266" r:id="R691430c9ab894f10"/>
    <p:sldId xmlns:r="http://schemas.openxmlformats.org/officeDocument/2006/relationships" id="267" r:id="R6f4ac0c400ef4c1d"/>
    <p:sldId xmlns:r="http://schemas.openxmlformats.org/officeDocument/2006/relationships" id="268" r:id="Rc938d41a64fe45df"/>
    <p:sldId xmlns:r="http://schemas.openxmlformats.org/officeDocument/2006/relationships" id="269" r:id="R09c2cbc452a74418"/>
    <p:sldId xmlns:r="http://schemas.openxmlformats.org/officeDocument/2006/relationships" id="270" r:id="R07e8c9cad4d545d2"/>
    <p:sldId xmlns:r="http://schemas.openxmlformats.org/officeDocument/2006/relationships" id="271" r:id="R3094759e80e54edf"/>
    <p:sldId xmlns:r="http://schemas.openxmlformats.org/officeDocument/2006/relationships" id="272" r:id="Rf6e57369b710496a"/>
    <p:sldId xmlns:r="http://schemas.openxmlformats.org/officeDocument/2006/relationships" id="273" r:id="Rd34e40abb03e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0f570ae3894394" /><Relationship Type="http://schemas.openxmlformats.org/officeDocument/2006/relationships/slideMaster" Target="/ppt/slideMasters/slideMaster1.xml" Id="R263f44df8d6f4c4e" /><Relationship Type="http://schemas.openxmlformats.org/officeDocument/2006/relationships/notesMaster" Target="/ppt/notesMasters/notesMaster1.xml" Id="Rf8cfd4963b8a45ca" /><Relationship Type="http://schemas.openxmlformats.org/officeDocument/2006/relationships/presProps" Target="/ppt/presProps.xml" Id="R1af7c0f29efe46b1" /><Relationship Type="http://schemas.openxmlformats.org/officeDocument/2006/relationships/tableStyles" Target="/ppt/tableStyles.xml" Id="Rb3900817533d4165" /><Relationship Type="http://schemas.openxmlformats.org/officeDocument/2006/relationships/slide" Target="/ppt/slides/slide1.xml" Id="Re7c9cf294a264bc1" /><Relationship Type="http://schemas.openxmlformats.org/officeDocument/2006/relationships/slide" Target="/ppt/slides/slide2.xml" Id="Rd3d6e4fe658f4c95" /><Relationship Type="http://schemas.openxmlformats.org/officeDocument/2006/relationships/slide" Target="/ppt/slides/slide3.xml" Id="R2169a7e178ea4d48" /><Relationship Type="http://schemas.openxmlformats.org/officeDocument/2006/relationships/slide" Target="/ppt/slides/slide4.xml" Id="R32f447573b8a4dfc" /><Relationship Type="http://schemas.openxmlformats.org/officeDocument/2006/relationships/slide" Target="/ppt/slides/slide5.xml" Id="R9db968c9b8c94926" /><Relationship Type="http://schemas.openxmlformats.org/officeDocument/2006/relationships/slide" Target="/ppt/slides/slide6.xml" Id="R1aab3598c49e4f24" /><Relationship Type="http://schemas.openxmlformats.org/officeDocument/2006/relationships/slide" Target="/ppt/slides/slide7.xml" Id="Re8a91494c6db4cfd" /><Relationship Type="http://schemas.openxmlformats.org/officeDocument/2006/relationships/slide" Target="/ppt/slides/slide8.xml" Id="Rd659c453e0724367" /><Relationship Type="http://schemas.openxmlformats.org/officeDocument/2006/relationships/slide" Target="/ppt/slides/slide9.xml" Id="Rd2119e7162274914" /><Relationship Type="http://schemas.openxmlformats.org/officeDocument/2006/relationships/slide" Target="/ppt/slides/slide10.xml" Id="Reb22938acc004214" /><Relationship Type="http://schemas.openxmlformats.org/officeDocument/2006/relationships/slide" Target="/ppt/slides/slide11.xml" Id="R691430c9ab894f10" /><Relationship Type="http://schemas.openxmlformats.org/officeDocument/2006/relationships/slide" Target="/ppt/slides/slide12.xml" Id="R6f4ac0c400ef4c1d" /><Relationship Type="http://schemas.openxmlformats.org/officeDocument/2006/relationships/slide" Target="/ppt/slides/slide13.xml" Id="Rc938d41a64fe45df" /><Relationship Type="http://schemas.openxmlformats.org/officeDocument/2006/relationships/slide" Target="/ppt/slides/slide14.xml" Id="R09c2cbc452a74418" /><Relationship Type="http://schemas.openxmlformats.org/officeDocument/2006/relationships/slide" Target="/ppt/slides/slide15.xml" Id="R07e8c9cad4d545d2" /><Relationship Type="http://schemas.openxmlformats.org/officeDocument/2006/relationships/slide" Target="/ppt/slides/slide16.xml" Id="R3094759e80e54edf" /><Relationship Type="http://schemas.openxmlformats.org/officeDocument/2006/relationships/slide" Target="/ppt/slides/slide17.xml" Id="Rf6e57369b710496a" /><Relationship Type="http://schemas.openxmlformats.org/officeDocument/2006/relationships/slide" Target="/ppt/slides/slide18.xml" Id="Rd34e40abb03e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48d44bc02f4a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66090563340bd" /><Relationship Type="http://schemas.openxmlformats.org/officeDocument/2006/relationships/notesMaster" Target="/ppt/notesMasters/notesMaster1.xml" Id="R6747b239e1ca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2bd5bb774b4c71" /><Relationship Type="http://schemas.openxmlformats.org/officeDocument/2006/relationships/notesMaster" Target="/ppt/notesMasters/notesMaster1.xml" Id="Rbc970ad7795d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77e6667bb4d24" /><Relationship Type="http://schemas.openxmlformats.org/officeDocument/2006/relationships/notesMaster" Target="/ppt/notesMasters/notesMaster1.xml" Id="R8ff2723e5b78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74add69974335" /><Relationship Type="http://schemas.openxmlformats.org/officeDocument/2006/relationships/notesMaster" Target="/ppt/notesMasters/notesMaster1.xml" Id="R9edd43003ba9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8e3c9e261f44e9" /><Relationship Type="http://schemas.openxmlformats.org/officeDocument/2006/relationships/notesMaster" Target="/ppt/notesMasters/notesMaster1.xml" Id="R71f5724010d4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807e736cf42e2" /><Relationship Type="http://schemas.openxmlformats.org/officeDocument/2006/relationships/notesMaster" Target="/ppt/notesMasters/notesMaster1.xml" Id="Ra19a24c13f8c40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1dcb9ca7146a9" /><Relationship Type="http://schemas.openxmlformats.org/officeDocument/2006/relationships/notesMaster" Target="/ppt/notesMasters/notesMaster1.xml" Id="R9487ddc2cca0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34a17337c64547" /><Relationship Type="http://schemas.openxmlformats.org/officeDocument/2006/relationships/notesMaster" Target="/ppt/notesMasters/notesMaster1.xml" Id="R4163af23efe3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b451d76a7417b" /><Relationship Type="http://schemas.openxmlformats.org/officeDocument/2006/relationships/notesMaster" Target="/ppt/notesMasters/notesMaster1.xml" Id="Rba8465a9d4494c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efb4bec6344a7f" /><Relationship Type="http://schemas.openxmlformats.org/officeDocument/2006/relationships/notesMaster" Target="/ppt/notesMasters/notesMaster1.xml" Id="R5c8fe8fbe6c0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848f75c9c0411b" /><Relationship Type="http://schemas.openxmlformats.org/officeDocument/2006/relationships/notesMaster" Target="/ppt/notesMasters/notesMaster1.xml" Id="Rdcf6829970d04b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dc7b704f504a26" /><Relationship Type="http://schemas.openxmlformats.org/officeDocument/2006/relationships/notesMaster" Target="/ppt/notesMasters/notesMaster1.xml" Id="R85ddd627a9c64d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17b9a73c254732" /><Relationship Type="http://schemas.openxmlformats.org/officeDocument/2006/relationships/notesMaster" Target="/ppt/notesMasters/notesMaster1.xml" Id="Rc963003dcbff40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5ab2be76934e93" /><Relationship Type="http://schemas.openxmlformats.org/officeDocument/2006/relationships/notesMaster" Target="/ppt/notesMasters/notesMaster1.xml" Id="Rd35858b4101444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bf184968a941ee" /><Relationship Type="http://schemas.openxmlformats.org/officeDocument/2006/relationships/notesMaster" Target="/ppt/notesMasters/notesMaster1.xml" Id="Rae54d570373846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68fec9818846d2" /><Relationship Type="http://schemas.openxmlformats.org/officeDocument/2006/relationships/notesMaster" Target="/ppt/notesMasters/notesMaster1.xml" Id="R723ec999187f42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ff9bd3bbdd48ec" /><Relationship Type="http://schemas.openxmlformats.org/officeDocument/2006/relationships/notesMaster" Target="/ppt/notesMasters/notesMaster1.xml" Id="R930b67352b6448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79b13de7054cb0" /><Relationship Type="http://schemas.openxmlformats.org/officeDocument/2006/relationships/notesMaster" Target="/ppt/notesMasters/notesMaster1.xml" Id="R730f0f5a27d8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principal: Guia.pdf, enunciado acadêmico ArchCorp, 2026, 13 páginas. Cenário 4 aplicado a uma locadora fictícia inspirada na Localiza, com dados sintéticos. Referência técnica: main f1669d78f01e2d279b3de60a999ed778e6c9916e, PR #75 de 25/10/2026, https://github.com/Roger-Quinelato/projetoAplicado7/pull/75, commit consultado localmente. Marcos previstos conforme orientação da entrega. Autoria: Rodrigo Nenato — backend, produto e negócio; Raquel — frontend e levantamento de requisitos. Não há declaração de aceite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enunciado acadêmico, páginas 1 a 3. Produtos, tecnologias e fluxos atuais específicos permanecem como premissas a validar.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docs/arquitetura/AS_IS.md e enunciado acadêmico. A sequência ilustrada é uma hipótese explícita para a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PLANO_IMPLEMENTACAO_CENARIO_4.md, seção 5, e docs/MATRIZ_RASTREABILIDADE.md.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docs/adr/ADR-001-integracao-empresa-de-servicos.md. Opções consideradas: REST ponto a ponto, microsserviços completos, ESB central e monólito modular orientado a serviços.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docs/arquitetura/TO_BE.md. Os conectores representam dependências por portas e eventos, não acesso direto a tabelas.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relatório, seção 4.4, e docs/arquitetura/AS_IS.md. Categorias são o papel típico de cada sistema; produtos reais não foram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AGENTS.md, tabela de propriedade dos dados, e plano de implementação, seção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docs/api/openapi.yaml, docs/events/asyncapi.yaml e docs/EXEMPLOS_API.md.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docs/INTEGRACOES.md, scripts/demo_f1.py e evidência histórica consolidada em docs/EVIDENCIAS_VALIDACAO.md (20/10/2026). Não reexecutado em 28/10. ADR-006 permanece Proposto, aguardando aceite do responsável. A chamada no mesmo processo não tem interrupção por timeout de rede.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docs/INTEGRACOES.md, scripts/demo_f2.py e evidência histórica consolidada em docs/EVIDENCIAS_VALIDACAO.md (20/10/2026). Não reexecutado em 28/10. O despachante invoca os consumidores internos; RabbitMQ recebe uma cópia opcional e não executa esses consumidores.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F3: quando o processo ainda não existe, resolução e reconciliação levantam uma falha recuperável. O dispatcher não confirma a inbox e mantém a tentativa disponível; se atingir FAILED, reprocessar explicitamente após recuperar a abertura. Regressões em tests/test_regressoes_fechamento.py cobrem falha temporária, limite de tentativas e reprocessamento, sem duplicação. A resolução preserva estados finais e usa o agregado das tarefas. Não há agendador: o despacho é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docs/events/asyncapi.yaml, docs/api/openapi.yaml e plano de implementação, seção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docs/ATRIBUTOS_QUALIDADE.md (nove atributos com necessidade, risco, estratégia, resultado e evidência) e relatório, seção 4.8. Desempenho histórico de 20/10, local, PostgreSQL 16, 60 clientes e 100 amostras por consulta em 10 consultas de negócio. Não representa hospedagem pública nem medição na main f1669d7.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docs/ATRIBUTOS_QUALIDADE.md e docs/EVIDENCIAS_VALIDACAO.md. Correções de segurança: main f1669d7, PR #75, 25/10/2026, https://github.com/Roger-Quinelato/projetoAplicado7/pull/75, registro local do commit. Credencial com caracteres não ASCII comparada em bytes, exceção inesperada registra só errorType. FAILED é estado persistido da aplicação, não fila de erro RabbitMQ. Sem OIDC e sem tracing distribuído.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docs/EVOLUCAO_MANUTENCAO.md (sete perguntas do enunciado) e docs/VISAO_NEGOCIO.md. Indicadores: tempo de ativação, recadastro, SLA incorreto, falhas por integração e tempo de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docs/EVIDENCIAS_VALIDACAO.md, seções históricas de 20/10/2026; registro local do commit f1669d78f01e2d279b3de60a999ed778e6c9916e, PR #75, 25/10/2026, https://github.com/Roger-Quinelato/projetoAplicado7/pull/75; logs da CI Verify 40199072801, https://github.com/Roger-Quinelato/projetoAplicado7/actions/runs/40199072801, executada em 25/10 sobre essa main, consultados no GitHub Actions em 28/10/2026. Quatro jobs success: application 252 passed/14 skipped; postgresql 262 passed/4 skipped; rabbitmq 22 passed; e2e 25 passed e axe separado 1 passed. Suítes sobrepostas, sem total agregado. Histórico de 20/10: PostgreSQL 16/RabbitMQ 3.12 locais, contêiner Linux, Python 3.13, 60 clientes, 100 amostras por consulta em 10 consultas de negócio, p95 máximo de 45,1 ms, 22 roteiros de navegador, F1 20/20, F2 14/14 e F3 15/15. O p95 não foi medido novamente na main f1669d7. Verificação local após correções em 28/10: Python 264 aprovados e 14 ignorados, frontend 19 aprovados, TypeScript e OpenAPI check aprovados. Hospedagem pública e PostgreSQL gerenciado sem comprovação.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Correções de fechamento: F3 não confirma resolução/reconciliação sem processo; eventos mantêm retentativa e reprocessamento explícito. Encerramento do contrato cancela tarefas pendentes e deriva o estado agregado, preservando tarefas finais. Cancelamento financeiro usa a data UTC e o estado efetivo da consulta; vencida recebe 409. As correções não alteram registros antigos já consumidos. Autoria declarada: Rodrigo Nenato — backend, produto e negócio; Raquel — frontend e levantamento de requisitos. Permanecem ensaio, aceite docente e comprovação da hospedagem prevista no plano. OIDC, tracing distribuído e consumo pelo broker são evoluções.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e5ffe51e0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554a63e334c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5bb1b8e6a42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b26946ecc4f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4477a041444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fcab71cbe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B2BB4-7244-478E-9A22-4F0FEB1ED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ED536-0E84-47CF-9BFF-A736444B7D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12B58F-3AA3-45D0-90E1-5FCBFD0CC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1FB1A-6B73-4879-ADE7-86A173BCC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57DEEB-7C4E-4183-831C-52DAF578A7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3CC9A2-2C94-40CE-A388-15450A3A9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2E2781-3032-4026-8F18-F3424ABF66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E20029-0D81-49EE-AC93-18BAA0CA9F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B5DCD2-7D14-43D9-8C73-064C74E36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DA4D31-73BA-4649-B98D-C97B4D84B1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78bb3ff814778" /><Relationship Type="http://schemas.openxmlformats.org/officeDocument/2006/relationships/slideLayout" Target="/ppt/slideLayouts/slideLayout1.xml" Id="R084c054ab8264d07" /><Relationship Type="http://schemas.openxmlformats.org/officeDocument/2006/relationships/slideLayout" Target="/ppt/slideLayouts/slideLayout2.xml" Id="R964daba3d9324441" /><Relationship Type="http://schemas.openxmlformats.org/officeDocument/2006/relationships/slideLayout" Target="/ppt/slideLayouts/slideLayout3.xml" Id="R3276124c2d8145c5" /><Relationship Type="http://schemas.openxmlformats.org/officeDocument/2006/relationships/slideLayout" Target="/ppt/slideLayouts/slideLayout4.xml" Id="R5ee089717fc940b5" /><Relationship Type="http://schemas.openxmlformats.org/officeDocument/2006/relationships/slideLayout" Target="/ppt/slideLayouts/slideLayout5.xml" Id="Ra6aceb5927eb4788" /><Relationship Type="http://schemas.openxmlformats.org/officeDocument/2006/relationships/slideLayout" Target="/ppt/slideLayouts/slideLayout6.xml" Id="Rf09e96a51af4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c054ab8264d07"/>
    <p:sldLayoutId xmlns:r="http://schemas.openxmlformats.org/officeDocument/2006/relationships" id="2147483650" r:id="R964daba3d9324441"/>
    <p:sldLayoutId xmlns:r="http://schemas.openxmlformats.org/officeDocument/2006/relationships" id="2147483651" r:id="R3276124c2d8145c5"/>
    <p:sldLayoutId xmlns:r="http://schemas.openxmlformats.org/officeDocument/2006/relationships" id="2147483652" r:id="R5ee089717fc940b5"/>
    <p:sldLayoutId xmlns:r="http://schemas.openxmlformats.org/officeDocument/2006/relationships" id="2147483653" r:id="Ra6aceb5927eb4788"/>
    <p:sldLayoutId xmlns:r="http://schemas.openxmlformats.org/officeDocument/2006/relationships" id="2147483654" r:id="Rf09e96a51af4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6d32ccce94c10" /><Relationship Type="http://schemas.openxmlformats.org/officeDocument/2006/relationships/notesSlide" Target="/ppt/notesSlides/notesSlide1.xml" Id="R46c77147153d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d678ab8d04cef" /><Relationship Type="http://schemas.openxmlformats.org/officeDocument/2006/relationships/notesSlide" Target="/ppt/notesSlides/notesSlide2.xml" Id="Rb3304301df7b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2cb75aedb4253" /><Relationship Type="http://schemas.openxmlformats.org/officeDocument/2006/relationships/image" Target="/ppt/media/image.png" Id="R00597fbca7ba4e53" /><Relationship Type="http://schemas.openxmlformats.org/officeDocument/2006/relationships/notesSlide" Target="/ppt/notesSlides/notesSlide3.xml" Id="R830bd812eb1842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c78e9082a4766" /><Relationship Type="http://schemas.openxmlformats.org/officeDocument/2006/relationships/notesSlide" Target="/ppt/notesSlides/notesSlide4.xml" Id="R87815ffb0703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6f944c3fd4fa0" /><Relationship Type="http://schemas.openxmlformats.org/officeDocument/2006/relationships/notesSlide" Target="/ppt/notesSlides/notesSlide5.xml" Id="Rf35177b1886c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61b8528164812" /><Relationship Type="http://schemas.openxmlformats.org/officeDocument/2006/relationships/image" Target="/ppt/media/image2.png" Id="Rfe53bc55bb5c4c46" /><Relationship Type="http://schemas.openxmlformats.org/officeDocument/2006/relationships/notesSlide" Target="/ppt/notesSlides/notesSlide6.xml" Id="R81e6ad28ef9848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8eb7b502449f8" /><Relationship Type="http://schemas.openxmlformats.org/officeDocument/2006/relationships/notesSlide" Target="/ppt/notesSlides/notesSlide7.xml" Id="Ra35ae5571c6043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e9c3523a34d84" /><Relationship Type="http://schemas.openxmlformats.org/officeDocument/2006/relationships/notesSlide" Target="/ppt/notesSlides/notesSlide8.xml" Id="R4cd78c9fede847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3faca44b2456b" /><Relationship Type="http://schemas.openxmlformats.org/officeDocument/2006/relationships/notesSlide" Target="/ppt/notesSlides/notesSlide9.xml" Id="Rfaff4b24fe0f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406efaf2348c6" /><Relationship Type="http://schemas.openxmlformats.org/officeDocument/2006/relationships/notesSlide" Target="/ppt/notesSlides/notesSlide10.xml" Id="Rd3b9c0cdab0041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7c45c249c450e" /><Relationship Type="http://schemas.openxmlformats.org/officeDocument/2006/relationships/notesSlide" Target="/ppt/notesSlides/notesSlide11.xml" Id="R8d58e796107c41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a7003ae2e445e" /><Relationship Type="http://schemas.openxmlformats.org/officeDocument/2006/relationships/notesSlide" Target="/ppt/notesSlides/notesSlide12.xml" Id="Rca5c60c903dd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cf3f067624a7f" /><Relationship Type="http://schemas.openxmlformats.org/officeDocument/2006/relationships/notesSlide" Target="/ppt/notesSlides/notesSlide13.xml" Id="Rec70815d78b345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147c323924450" /><Relationship Type="http://schemas.openxmlformats.org/officeDocument/2006/relationships/notesSlide" Target="/ppt/notesSlides/notesSlide14.xml" Id="R0a4a47f716664f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fb28162c74381" /><Relationship Type="http://schemas.openxmlformats.org/officeDocument/2006/relationships/notesSlide" Target="/ppt/notesSlides/notesSlide15.xml" Id="Rdd299eec83334c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9ce7df5c54f71" /><Relationship Type="http://schemas.openxmlformats.org/officeDocument/2006/relationships/notesSlide" Target="/ppt/notesSlides/notesSlide16.xml" Id="R578c9d3560904d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a58584936415a" /><Relationship Type="http://schemas.openxmlformats.org/officeDocument/2006/relationships/notesSlide" Target="/ppt/notesSlides/notesSlide17.xml" Id="R1d91995bc1394c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4776f4a744b48" /><Relationship Type="http://schemas.openxmlformats.org/officeDocument/2006/relationships/notesSlide" Target="/ppt/notesSlides/notesSlide18.xml" Id="R18e79323bb79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27C4-84C4-47AF-9942-2D46F314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Arquitetura de Integração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Empresa de Serviços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86A8B-47B0-4215-AAB8-6CCF4B69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8DF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8DFE2"/>
                </a:solidFill>
                <a:latin typeface="Arial"/>
                <a:ea typeface="Arial"/>
                <a:cs typeface="Arial"/>
              </a:rPr>
              <a:t>Projeto Aplicado  |  Cenário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C5590-A2C6-44EC-865A-F10E290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0F43E-6AE8-4DAF-A387-FBFDA46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Rodrigo Nenato — backend, produto e negócio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Raquel — frontend e levantamento de requisitos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Versão 28/10/2026  ·  Base main f1669d7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Entrega pronta 09/11/2026  ·  Apresentação 23/11/2026 (previstas)</a:t>
            </a:r>
          </a:p>
        </p:txBody>
      </p:sp>
    </p:spTree>
    <p:extLst>
      <p:ext uri="{BB962C8B-B14F-4D97-AF65-F5344CB8AC3E}">
        <p14:creationId xmlns:p14="http://schemas.microsoft.com/office/powerpoint/2010/main" val="321175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7448-D129-4FB0-AFA1-3ADE8F8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3006D-BDF9-47AB-97C0-82B073D8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Cenário e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9ADCB-2E35-4F99-8F87-FAF89F40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71942-2E96-498E-AE7E-56570E5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619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Cinco sistemas corporativos com integrações insuficientes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Duplicidade e lançamentos manuais entre áreas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Falhas difíceis de rastrear e processos fragmentados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Primeira entrega exige arquitetura e três fluxos funcionando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F5941-4012-4CCA-9219-18F413F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7D115-C128-48F8-AE5A-0CA7588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Reservas e contratos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59E7E-8EBE-43BC-909F-79C05DC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Financeiro e faturamento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5CE3A-8EBB-435C-9AF3-BB5F30D2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Atendimento e assistência 24h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C75AF-6EAD-428F-9C19-5641B0D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Processos</a:t>
            </a:r>
          </a:p>
        </p:txBody>
      </p:sp>
    </p:spTree>
    <p:extLst>
      <p:ext uri="{BB962C8B-B14F-4D97-AF65-F5344CB8AC3E}">
        <p14:creationId xmlns:p14="http://schemas.microsoft.com/office/powerpoint/2010/main" val="390930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AABE5-076A-4681-BEDA-E28AEC5E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E7BBD-9CA6-458C-A760-A1555EA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Arquitetura atual AS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CD59F-B665-4529-B910-D900B18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FB56E-E2D2-47EE-A108-EFAD88C3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Premissa de modelagem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B3DD1-C222-4069-AE4B-8C134F278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7fbca7ba4e53"/>
          <a:stretch xmlns:a="http://schemas.openxmlformats.org/drawingml/2006/main"/>
        </p:blipFill>
        <p:spPr>
          <a:xfrm xmlns:a="http://schemas.openxmlformats.org/drawingml/2006/main">
            <a:off x="666750" y="1676992"/>
            <a:ext cx="10858500" cy="240864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5E2B0-E84E-45D8-BC0D-E3AF944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Recadastro, planilhas e lançamentos manuais ligam as áreas. O enunciado confirma os sistemas e os problemas gerais, mas não informa as interfaces atuais.</a:t>
            </a:r>
          </a:p>
        </p:txBody>
      </p:sp>
    </p:spTree>
    <p:extLst>
      <p:ext uri="{BB962C8B-B14F-4D97-AF65-F5344CB8AC3E}">
        <p14:creationId xmlns:p14="http://schemas.microsoft.com/office/powerpoint/2010/main" val="54142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188FE-2CC5-4A9D-8E92-ADD122F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4D7C-4680-44B3-8382-37DC7CF6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Requisitos prioritários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E8B3F-65E2-46D0-9E26-D6FD8F17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1133D-5770-424D-894D-82BF65B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66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RF 01 a RF 02: identidade global e contrato sem recadastro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RF 03: ativação cria cobrança e preparação de retirada sem duplicidade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RF 04: chamado consulta contrato, grupo de veículo e SLA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RF 05 a RF 07: propagação cadastral, correlação e reprocessamento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B6BCE-6CDB-4BE2-9666-02BF712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Qualidade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D2631-3E43-476A-8824-6A12C48D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Interoperabilidade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Confiabilidade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Segurança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Observabilidade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Manutenibilidade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Disponibilidade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Desempenho</a:t>
            </a:r>
          </a:p>
        </p:txBody>
      </p:sp>
    </p:spTree>
    <p:extLst>
      <p:ext uri="{BB962C8B-B14F-4D97-AF65-F5344CB8AC3E}">
        <p14:creationId xmlns:p14="http://schemas.microsoft.com/office/powerpoint/2010/main" val="1373173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7DF4D-F362-41EF-8103-DF47236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5A89A-C901-462B-8156-E0D7BD7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Decisão arquitetural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A2076-4661-4804-BB7B-68B2B8F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2C684-B6F2-4347-A502-AE1EC4DB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SOA pragmática em monólito modular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7EF93-79CF-41C5-9361-9AFA1B61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952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Portas e adaptadores preservam as fronteiras dos contextos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 atende respostas imediatas; eventos representam fatos confirmados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 e RabbitMQ sustentam a demonstração local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B"/>
                </a:solidFill>
                <a:latin typeface="Arial"/>
                <a:ea typeface="Arial"/>
                <a:cs typeface="Arial"/>
              </a:rPr>
              <a:t>Extração futura depende de métricas de escala, disponibilidade ou cadência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BA4DB-2E4A-4C2A-ABCC-94640DCA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ADR 001 aceito para o protótipo acadêmico</a:t>
            </a:r>
          </a:p>
        </p:txBody>
      </p:sp>
    </p:spTree>
    <p:extLst>
      <p:ext uri="{BB962C8B-B14F-4D97-AF65-F5344CB8AC3E}">
        <p14:creationId xmlns:p14="http://schemas.microsoft.com/office/powerpoint/2010/main" val="388130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F414-CC72-4E6F-BA5D-C5E0812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20F5-3418-4CB7-A7FA-22D0FE3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Arquitetura proposta TO 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6B0F5-BA73-46B7-AD9D-694CC70B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B6BE7-33C5-406A-8B6B-BD5F1A2C6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3bc55bb5c4c46"/>
          <a:stretch xmlns:a="http://schemas.openxmlformats.org/drawingml/2006/main"/>
        </p:blipFill>
        <p:spPr>
          <a:xfrm xmlns:a="http://schemas.openxmlformats.org/drawingml/2006/main">
            <a:off x="1212891" y="1095375"/>
            <a:ext cx="3384469" cy="5191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1F0D1-A325-4D0D-937A-8D83ACD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5715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Cinco contextos de negócio com dados próprios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CustomerReader e ContractEntitlementPort ligam contextos por portas públicas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Outbox, dispatcher e inbox entregam eventos sem duplicar efeitos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Auditoria e correlationId atravessam toda a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79A96-3A00-45D9-8361-A2AF901E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Um processo, fronteiras preservadas por interfaces públicas</a:t>
            </a:r>
          </a:p>
        </p:txBody>
      </p:sp>
    </p:spTree>
    <p:extLst>
      <p:ext uri="{BB962C8B-B14F-4D97-AF65-F5344CB8AC3E}">
        <p14:creationId xmlns:p14="http://schemas.microsoft.com/office/powerpoint/2010/main" val="1686717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85B50-95C0-4FCB-BA17-525DC21D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22B0E-E950-46DF-8102-1FC2F8D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Sistemas corporativos envolvidos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37194-EE30-4AE0-8D2B-7D60CBF8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3D8D-EEBB-4ED0-B9F2-FE8D3D6F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857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DE6B7-439A-4355-9DBD-F998B348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573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CRM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24EC8-D2A3-4847-9292-E87BAF9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57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Fonte oficial do cliente; fornece dados a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8C3C1-F54F-403F-98D1-3850F19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857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Reservas e contratos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F1251-FD0A-4307-8D35-A22A605D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98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Sistema de contratos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AFE7-178C-45E2-8CDA-0B9CA64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Reserva, contrato e SLA; publica eventos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F39E4-95DF-4B35-AC3A-EF69E3A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857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Financeiro e faturamento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9FE72-8553-4E17-8903-83B4B66C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623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Módulo financeiro de ERP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7846F-E65D-40EE-8206-A25D61B6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Faturas e pagamentos por eventos de contrato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61C1E-50AB-4F11-A1BB-E1FF3130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857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Atendimento 24h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F4BCE-29C8-4F0E-8D42-582496CD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148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Sistema de atendimento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15C2A-C3F0-44CD-B27D-9D8D5304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Chamado com SLA consultado em Contracts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65FB8-33CA-4B1E-ACC3-B18ABC61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Gestão de processos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2DD0B-C9EC-4A46-B5BB-DB5E992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BPM /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70CE3-6F04-4F26-BA4A-D14EBBB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67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Retirada e resolução iniciadas por eventos</a:t>
            </a:r>
          </a:p>
        </p:txBody>
      </p:sp>
    </p:spTree>
    <p:extLst>
      <p:ext uri="{BB962C8B-B14F-4D97-AF65-F5344CB8AC3E}">
        <p14:creationId xmlns:p14="http://schemas.microsoft.com/office/powerpoint/2010/main" val="1690840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6E575-8626-4609-B303-A89D72BC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58F8D-C44B-483D-A6F7-C92F3F14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Propriedade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411FE-7353-4459-9A91-0BB94717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6B0E-A4A3-4D75-8302-C0A77BA8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E8D48-0C92-4B11-98F9-3728929D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382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Cliente, contato, consentimento, perfil de locação e oportunidade corporativa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5E547-94FA-4BC4-AC99-5F627C7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9D5E5-2ECE-4E41-A90B-C3AB4EA5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Reserva, contrato de locação, grupo de veículo, vigência, proteções e SLA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011F3-A959-4FD0-89CE-BA14406E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DBB31-35F0-4186-9549-C8CB979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Pré-autorização, cobrança, fatura, pagamento, caução, multa e inadimplência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C2F58-DC7A-4272-AF84-F03F57FF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C1B8C-343B-4890-AF04-9B3C86E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Chamado, assistência, prioridade, histórico e resolução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46A95-983D-40A5-9F17-D6D52C4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70B79-2B19-4E38-A315-6EDE4EB2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Instância, tarefa, responsável, prazo e estado operacional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ED94B-5EEF-4E03-8A6A-C37CBD5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270A1-40B9-4CF1-989D-3692BAF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IDs legados, correlação, outbox, inbox e falhas</a:t>
            </a:r>
          </a:p>
        </p:txBody>
      </p:sp>
    </p:spTree>
    <p:extLst>
      <p:ext uri="{BB962C8B-B14F-4D97-AF65-F5344CB8AC3E}">
        <p14:creationId xmlns:p14="http://schemas.microsoft.com/office/powerpoint/2010/main" val="607549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E235-D020-41DE-993D-A453B96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68F6-07B3-48D9-B5E9-072F483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APIs e contratos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4DB3F-0D2F-45FC-A2ED-79672634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EB6A3-CB77-4E10-B392-C04F01DE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7239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 /api/v1/contracts/reservations/{id}/draft  ·  F1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 /api/v1/contracts/{id}/activate  ·  F2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 /api/v1/support/tickets  ·  F3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 /api/v1/integration/outbox/dispatch  ·  entrega de eventos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GET /api/v1/operations/{correlationId}  ·  trilha consolidada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C9111-5CF1-4EF1-A911-96E22B3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OpenAPI 3.1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Swagger em /docs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A0F7-2B29-4E1C-8510-B78E0CB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AsyncAPI 3.0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6 eventos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E31AD-DBC5-49FD-A33F-D9D5D2B9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7622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problem+json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code e correlationId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0FFD-D1D8-49D1-8FD1-426C0BA0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Comandos repetíveis aceitam Idempotency-Key</a:t>
            </a:r>
          </a:p>
        </p:txBody>
      </p:sp>
    </p:spTree>
    <p:extLst>
      <p:ext uri="{BB962C8B-B14F-4D97-AF65-F5344CB8AC3E}">
        <p14:creationId xmlns:p14="http://schemas.microsoft.com/office/powerpoint/2010/main" val="1742231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97BC0-232A-4C2B-A19D-7D696C467C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2857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36C9E-F0F8-4BDB-AB75-4279950F849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857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E513E-008F-4994-A21C-C8B01A8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74C03-5111-4452-992D-C8BE751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Fluxo F1 Cliente para reserva/contrato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4790C-DF12-43FD-B2C5-D5F059A8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B74E5-9C69-4807-B452-F8DD430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CRM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cliente elegível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7EF6C-B898-4F07-A3B8-7BFC1A2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2381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/contracts/drafts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33466-2891-4FE3-8DB1-D5D63C3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381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Contracts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rascunho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6BF74-BA20-4F59-BC31-6B01C07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Idempotency Key devolve o mesmo contractId em uma repetição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75D22-3547-42EF-82AF-F63520C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67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CRM fora do ar: retentativa limitada com jitter e 503 sem efeito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4CB50-6172-49D9-80C9-EC972A77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F1 histórico: 20/20 checagens (20/10)</a:t>
            </a:r>
          </a:p>
        </p:txBody>
      </p:sp>
    </p:spTree>
    <p:extLst>
      <p:ext uri="{BB962C8B-B14F-4D97-AF65-F5344CB8AC3E}">
        <p14:creationId xmlns:p14="http://schemas.microsoft.com/office/powerpoint/2010/main" val="188665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D0663-994A-4A30-97F6-1B02F8C1DD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2952750"/>
            <a:ext cx="1333500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068AA-B663-4570-BC07-7AB313B6FF5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000750" y="2143125"/>
            <a:ext cx="13335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54A40-72EE-42AF-B944-A44FFA8AABC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952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30D89-0390-4C9A-BFB7-5A220A0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E59E6-EA69-4DC2-85A7-CD80E09F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Fluxo F2 Ativação cobrança e preparação de retirada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352F-EB34-49F0-A0C9-45A234C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75614-DECA-4EC0-A94F-2371478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05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Contracts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66979-D392-4D0C-883D-0892E08E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Outbox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ContractActivated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B2C27-39BC-4B2A-932A-1B5C408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Finance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 cobrança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FF20-FEB2-4F1E-8745-DEDDA6C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 preparação de retirada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248B-A7C2-4C3F-A1BC-9D7C0339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Inbox e restrições únicas impedem efeitos duplicados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EEBBD-91E4-44E5-BCFF-3925997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245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F2 histórico: 14/14 checagens (20/10)</a:t>
            </a:r>
          </a:p>
        </p:txBody>
      </p:sp>
    </p:spTree>
    <p:extLst>
      <p:ext uri="{BB962C8B-B14F-4D97-AF65-F5344CB8AC3E}">
        <p14:creationId xmlns:p14="http://schemas.microsoft.com/office/powerpoint/2010/main" val="1064481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A31DF-DCE8-4E13-96EE-34B0BB8E40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817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4159A-4E8D-4E4C-A4E2-607B52C173A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143500" y="2476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B58B-16A7-4071-954B-2C478CDB32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57500" y="2000250"/>
            <a:ext cx="1047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7C83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0CC52-6FC3-4B17-93D9-C608EE3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7207-3D75-4F79-9BCB-3A59067F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Fluxo F3 Chamado com SLA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F6C1E-0132-4BC1-945A-206B2D72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4CF26-DB5C-4649-BAD8-B911CE4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Support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abrir chamado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B0952-EB39-4C13-8D79-00319A3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Contracts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elegibilidade e SLA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9A494-C286-48F8-AB9F-3F21040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7F2EF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Ticket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OPEN ou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72CE4-B04E-4793-8905-7D694A7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190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resolução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1D0D2-63CC-40BC-B2E8-7A2BD37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Recuperação: resolução aguarda a abertura, sem confirmar a inbox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A5639-968F-4ADA-A8B2-BB17BBF7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97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F3 histórico: 15/15 checagens (20/10)</a:t>
            </a:r>
          </a:p>
        </p:txBody>
      </p:sp>
    </p:spTree>
    <p:extLst>
      <p:ext uri="{BB962C8B-B14F-4D97-AF65-F5344CB8AC3E}">
        <p14:creationId xmlns:p14="http://schemas.microsoft.com/office/powerpoint/2010/main" val="19645912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8DA79-B880-4F9F-B4AA-6E7DEBC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4E6A-24A4-40A4-AFFF-A854242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Interoperabilidade e contratos técnicos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D54C9-B762-46C8-AA7A-F8DA5A7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CAA2F-2233-4DA5-B876-D789340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685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B"/>
                </a:solidFill>
                <a:latin typeface="Arial"/>
                <a:ea typeface="Arial"/>
                <a:cs typeface="Arial"/>
              </a:rPr>
              <a:t>UUID global com identificadores legados associados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B"/>
                </a:solidFill>
                <a:latin typeface="Arial"/>
                <a:ea typeface="Arial"/>
                <a:cs typeface="Arial"/>
              </a:rPr>
              <a:t>JSON UTF 8, UTC ISO 8601 e moeda explícita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B"/>
                </a:solidFill>
                <a:latin typeface="Arial"/>
                <a:ea typeface="Arial"/>
                <a:cs typeface="Arial"/>
              </a:rPr>
              <a:t>OpenAPI para REST e AsyncAPI para eventos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B"/>
                </a:solidFill>
                <a:latin typeface="Arial"/>
                <a:ea typeface="Arial"/>
                <a:cs typeface="Arial"/>
              </a:rPr>
              <a:t>Fonte oficial vence; divergência fica auditada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B"/>
                </a:solidFill>
                <a:latin typeface="Arial"/>
                <a:ea typeface="Arial"/>
                <a:cs typeface="Arial"/>
              </a:rPr>
              <a:t>Mudança incompatível cria uma nova versão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774F-B364-4E20-ACF7-BD7F9CB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381250" cy="3714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eventId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eventType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eventVersion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occurredAt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correlationId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causationId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producer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583B4-E341-420D-BA93-50FF859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86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Envelope obrigatório</a:t>
            </a:r>
          </a:p>
        </p:txBody>
      </p:sp>
    </p:spTree>
    <p:extLst>
      <p:ext uri="{BB962C8B-B14F-4D97-AF65-F5344CB8AC3E}">
        <p14:creationId xmlns:p14="http://schemas.microsoft.com/office/powerpoint/2010/main" val="735718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7CED4-38FC-42C8-B3CE-9857BF00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FA92C-0D47-48D3-A864-AC090F8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Análise de qualidade arquitetural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79F4-D40C-49F1-8DC9-213DFCE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26976-9C53-4FEE-B93F-986B19E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Atributo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90A13-9899-441A-BEFE-61D9BDD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90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Risco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2FB87-C8A1-4C0C-A390-D1469DA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90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Estratégia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619C3-2D6E-492A-91D4-D4F0B9A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90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73762-A88C-4913-AAA0-ED063C1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Interoperabilidade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E2ED-8DAB-4AC2-9249-9388FA4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Cliente errado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74BCD-CE3C-4445-B6E4-660FDC3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UUID global e IDs legados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02B8E-A145-4D7D-8FE4-7CFC1FB4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Mesma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F320C-D9CB-47D7-A1C9-D1D4FCF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651F3-545B-449A-BCA3-DDCF7317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Cobrança dupla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3E694-342C-4CF4-8346-3CB79D2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Outbox, inbox e idempotência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85F37-86B4-4B1B-9A7C-571BE19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Um efeito por fato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5F49C-D438-4AAC-B790-560F0C00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Disponibilidade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BBA55-FCE6-4F8C-BF2D-F73E07D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Chamado perdido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FBB7E-F426-453F-ACA5-5E4C7DCD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Estado pendente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687E4-CE58-4622-A012-08C3705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Reconciliação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E6B98-8AF4-4ED1-B950-72BE69B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Manutenibilidade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E0312-7A59-4BEE-AD27-5F11F7A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Acoplamento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B5335-1DC1-4161-A120-0BD7B61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Portas e teste de fronteira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569AA-E656-4858-9074-B4B92C3E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Mudança 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8F5D1-A061-4EB9-B892-F7AA17D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Desempenho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557DA-1C14-4F9B-B036-172617C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387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Latência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DD27A-9B16-441B-9847-32195E1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API sem estado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98EB8-F55A-4041-A7E8-244F3D2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387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p95 45,1 ms (20/10)</a:t>
            </a:r>
          </a:p>
        </p:txBody>
      </p:sp>
    </p:spTree>
    <p:extLst>
      <p:ext uri="{BB962C8B-B14F-4D97-AF65-F5344CB8AC3E}">
        <p14:creationId xmlns:p14="http://schemas.microsoft.com/office/powerpoint/2010/main" val="224303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43796-3E72-4580-9411-E9E53FC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0A98-667D-4993-895A-A6C5C88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Confiabilidade segurança e observabilidade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FF8E2-03C4-40CB-9DB6-79D1C15B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D4A8B-B7BA-4C03-A706-8E8F198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D675C-65FF-4C25-985E-35F74604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Outbox e inbox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Idempotency Key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Estado FAILED e reprocessamento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9BAC3-809B-434C-860B-B2A6533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14D96-2225-46AF-B49B-54E211F8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Tokens locais ou segredo compartilhado e RBAC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Credenciais comparadas em bytes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Erros sem mensagem sensível nos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805EC-37BF-4A5B-A163-6C5696A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81B97-79C1-4959-BE27-398663AD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Correlação ponta a ponta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Logs JSON e métricas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Health checks e auditoria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6FD01-B877-49B6-8DE6-F43C963D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Regressões cobrem recuperação fora de ordem e estados finais.</a:t>
            </a:r>
          </a:p>
          <a:p xmlns:a="http://schemas.openxmlformats.org/drawingml/2006/main">
            <a:pPr>
              <a:defRPr sz="187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Falhas permanecem recuperáveis por retentativa ou reprocessamento explícito.</a:t>
            </a:r>
          </a:p>
        </p:txBody>
      </p:sp>
    </p:spTree>
    <p:extLst>
      <p:ext uri="{BB962C8B-B14F-4D97-AF65-F5344CB8AC3E}">
        <p14:creationId xmlns:p14="http://schemas.microsoft.com/office/powerpoint/2010/main" val="343087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4A285-9D91-4B58-82EF-F2347050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4C0E2-F635-4475-BFFD-0B0EAA31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Escalabilidade manutenção e evolução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AC8BA-546C-40CC-B036-64C8A91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ABCA-8D98-4AF4-88F9-6635AE1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Escalabilidade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1A8E0-9D7E-4180-B90B-28A56904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Réplicas da API sem estado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Consumidores idempotentes por fila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Extração só com métricas e ADR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311C6-172E-439A-8803-6255177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Manutenção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EB653-8E5C-4D01-9D69-E767604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Mudança no contexto proprietário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Novos sistemas por adaptadores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Testes de contrato e de fronteira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EE69-1055-4836-BAB8-75878D9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BF504-1D41-49FD-BBC2-5306164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05000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Contratos aditivos; quebra cria v2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Migrações aditivas (ADR-002)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Atualização gradual por versão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354CE-77FD-4756-A625-4795B93A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Viabilidade: um implantável, serviços gratuitos (não custo zero) e equipe júnior; custos reais a levantar</a:t>
            </a:r>
          </a:p>
        </p:txBody>
      </p:sp>
    </p:spTree>
    <p:extLst>
      <p:ext uri="{BB962C8B-B14F-4D97-AF65-F5344CB8AC3E}">
        <p14:creationId xmlns:p14="http://schemas.microsoft.com/office/powerpoint/2010/main" val="16197606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6552-E89A-42DD-8E48-AF0468A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246B-15EF-4571-A9D8-94F96C8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Evidências e versão de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8746C-E3F7-40C9-A93A-5E7A387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3943E-EB44-4297-A4E4-FBABA60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33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Histórico de 20/10/2026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55F35-680E-4E4C-8538-349A112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191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246 testes com PostgreSQL e RabbitMQ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232 aprovados e 14 ignorados em SQLite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22 roteiros de navegador aprovados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p95 máximo de 45,1 ms em consultas locais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55976-49C6-414D-B56A-07D75B6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CI da main f1669d7 em 25/10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CB7F-4F46-4D4B-AA2E-764ABAA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5048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application: 252 aprovados, 14 ignorados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postgresql: 262 aprovados, 4 ignorados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rabbitmq: 22 aprovados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e2e: 25 aprovados; axe: 1 aprovado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FF504-3A84-4409-A3F4-30309556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CI 40199072801 com quatro jobs concluídos com sucesso.</a:t>
            </a:r>
          </a:p>
          <a:p xmlns:a="http://schemas.openxmlformats.org/drawingml/2006/main">
            <a:pPr>
              <a:defRPr sz="17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As suítes se sobrepõem. Não somar as contagens. p95 histórico de 20/10.</a:t>
            </a:r>
          </a:p>
        </p:txBody>
      </p:sp>
    </p:spTree>
    <p:extLst>
      <p:ext uri="{BB962C8B-B14F-4D97-AF65-F5344CB8AC3E}">
        <p14:creationId xmlns:p14="http://schemas.microsoft.com/office/powerpoint/2010/main" val="20219149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11216-FBDF-4DF9-8DB0-3432E0A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6FE55-3BF2-44C2-8CEA-353601E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Conclusões e marcos da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1A2A6-F4AB-4FC2-9593-E6B971C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65778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786"/>
                </a:solidFill>
                <a:latin typeface="Arial"/>
                <a:ea typeface="Arial"/>
                <a:cs typeface="Arial"/>
              </a:rPr>
              <a:t>Projeto Aplicado Cenário 4  ·  Versão 28/10/2026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84899-08CF-4DC1-B27D-D62D9B1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D2B27-6B53-449E-8944-4F0FDC3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Os três fluxos têm evidências no protótipo acadêmico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Contratos e fronteiras permitem evolução incremental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B"/>
                </a:solidFill>
                <a:latin typeface="Arial"/>
                <a:ea typeface="Arial"/>
                <a:cs typeface="Arial"/>
              </a:rPr>
              <a:t>Regressões cobrem recuperação e estados finais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76522-687E-4A9A-8CBC-DDECD02A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7C83"/>
                </a:solidFill>
                <a:latin typeface="Arial"/>
                <a:ea typeface="Arial"/>
                <a:cs typeface="Arial"/>
              </a:rPr>
              <a:t>Limites e evolução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1CD0-36B8-4A69-A9D2-BAE0FE3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F3 aguarda a abertura e permite reprocessamento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Processo respeita o agregado das tarefas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Fatura vencida não aceita cancelamento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Rodrigo Nenato e Raquel: autoria preenchida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3E6A3-61F0-4DF3-9DF8-F7900B2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4350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Entrega pronta prevista para 09/11/2026</a:t>
            </a:r>
          </a:p>
          <a:p xmlns:a="http://schemas.openxmlformats.org/drawingml/2006/main">
            <a:pPr>
              <a:defRPr sz="2025" b="1">
                <a:solidFill>
                  <a:srgbClr val="C65D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5D3A"/>
                </a:solidFill>
                <a:latin typeface="Arial"/>
                <a:ea typeface="Arial"/>
                <a:cs typeface="Arial"/>
              </a:rPr>
              <a:t>Apresentação prevista para 23/11/2026</a:t>
            </a:r>
          </a:p>
        </p:txBody>
      </p:sp>
    </p:spTree>
    <p:extLst>
      <p:ext uri="{BB962C8B-B14F-4D97-AF65-F5344CB8AC3E}">
        <p14:creationId xmlns:p14="http://schemas.microsoft.com/office/powerpoint/2010/main" val="1612740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2026-10-28T16:39:53.8980000Z</dcterms:created>
  <dcterms:modified xsi:type="dcterms:W3CDTF">2026-10-28T16:39:53.8990000Z</dcterms:modified>
</coreProperties>
</file>