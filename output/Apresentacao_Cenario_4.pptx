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55baae30744ac0" /><Relationship Type="http://schemas.openxmlformats.org/officeDocument/2006/relationships/extended-properties" Target="/docProps/app.xml" Id="R7a93048eec6d4aed" /><Relationship Type="http://schemas.openxmlformats.org/officeDocument/2006/relationships/officeDocument" Target="/ppt/presentation.xml" Id="R67702ff9168944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ded503b6b64539"/>
  </p:sldMasterIdLst>
  <p:notesMasterIdLst>
    <p:notesMasterId xmlns:r="http://schemas.openxmlformats.org/officeDocument/2006/relationships" r:id="R48e168b386d54ff5"/>
  </p:notesMasterIdLst>
  <p:sldIdLst>
    <p:sldId xmlns:r="http://schemas.openxmlformats.org/officeDocument/2006/relationships" id="256" r:id="R0a6444bcd1244550"/>
    <p:sldId xmlns:r="http://schemas.openxmlformats.org/officeDocument/2006/relationships" id="257" r:id="Rcc4101aaf7374dae"/>
    <p:sldId xmlns:r="http://schemas.openxmlformats.org/officeDocument/2006/relationships" id="258" r:id="Rbb609206622d40a2"/>
    <p:sldId xmlns:r="http://schemas.openxmlformats.org/officeDocument/2006/relationships" id="259" r:id="Rbf60524d27924717"/>
    <p:sldId xmlns:r="http://schemas.openxmlformats.org/officeDocument/2006/relationships" id="260" r:id="Re8c22ded83e245ae"/>
    <p:sldId xmlns:r="http://schemas.openxmlformats.org/officeDocument/2006/relationships" id="261" r:id="R17d5cc7ae5164bd7"/>
    <p:sldId xmlns:r="http://schemas.openxmlformats.org/officeDocument/2006/relationships" id="262" r:id="R9623ea21aaf7433b"/>
    <p:sldId xmlns:r="http://schemas.openxmlformats.org/officeDocument/2006/relationships" id="263" r:id="R51df56b68f1740ce"/>
    <p:sldId xmlns:r="http://schemas.openxmlformats.org/officeDocument/2006/relationships" id="264" r:id="Re855f7c87e814690"/>
    <p:sldId xmlns:r="http://schemas.openxmlformats.org/officeDocument/2006/relationships" id="265" r:id="R72469c5b00524fd9"/>
    <p:sldId xmlns:r="http://schemas.openxmlformats.org/officeDocument/2006/relationships" id="266" r:id="R1cc324e98f5d4e59"/>
    <p:sldId xmlns:r="http://schemas.openxmlformats.org/officeDocument/2006/relationships" id="267" r:id="Rb629da31d5ce4a8b"/>
    <p:sldId xmlns:r="http://schemas.openxmlformats.org/officeDocument/2006/relationships" id="268" r:id="Rd803a2e14b1c4b5a"/>
    <p:sldId xmlns:r="http://schemas.openxmlformats.org/officeDocument/2006/relationships" id="269" r:id="Rad2df1d363e44a4c"/>
    <p:sldId xmlns:r="http://schemas.openxmlformats.org/officeDocument/2006/relationships" id="270" r:id="R8ce73002f0ca446f"/>
    <p:sldId xmlns:r="http://schemas.openxmlformats.org/officeDocument/2006/relationships" id="271" r:id="R59989f8f9be64bee"/>
    <p:sldId xmlns:r="http://schemas.openxmlformats.org/officeDocument/2006/relationships" id="272" r:id="Rb70e15ba4ac94230"/>
    <p:sldId xmlns:r="http://schemas.openxmlformats.org/officeDocument/2006/relationships" id="273" r:id="Rc132952c8c9f4a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a478ae397d4a23" /><Relationship Type="http://schemas.openxmlformats.org/officeDocument/2006/relationships/slideMaster" Target="/ppt/slideMasters/slideMaster1.xml" Id="R3cded503b6b64539" /><Relationship Type="http://schemas.openxmlformats.org/officeDocument/2006/relationships/notesMaster" Target="/ppt/notesMasters/notesMaster1.xml" Id="R48e168b386d54ff5" /><Relationship Type="http://schemas.openxmlformats.org/officeDocument/2006/relationships/presProps" Target="/ppt/presProps.xml" Id="R03e61e5c5e1d445a" /><Relationship Type="http://schemas.openxmlformats.org/officeDocument/2006/relationships/tableStyles" Target="/ppt/tableStyles.xml" Id="R1febd50ef41c435a" /><Relationship Type="http://schemas.openxmlformats.org/officeDocument/2006/relationships/slide" Target="/ppt/slides/slide1.xml" Id="R0a6444bcd1244550" /><Relationship Type="http://schemas.openxmlformats.org/officeDocument/2006/relationships/slide" Target="/ppt/slides/slide2.xml" Id="Rcc4101aaf7374dae" /><Relationship Type="http://schemas.openxmlformats.org/officeDocument/2006/relationships/slide" Target="/ppt/slides/slide3.xml" Id="Rbb609206622d40a2" /><Relationship Type="http://schemas.openxmlformats.org/officeDocument/2006/relationships/slide" Target="/ppt/slides/slide4.xml" Id="Rbf60524d27924717" /><Relationship Type="http://schemas.openxmlformats.org/officeDocument/2006/relationships/slide" Target="/ppt/slides/slide5.xml" Id="Re8c22ded83e245ae" /><Relationship Type="http://schemas.openxmlformats.org/officeDocument/2006/relationships/slide" Target="/ppt/slides/slide6.xml" Id="R17d5cc7ae5164bd7" /><Relationship Type="http://schemas.openxmlformats.org/officeDocument/2006/relationships/slide" Target="/ppt/slides/slide7.xml" Id="R9623ea21aaf7433b" /><Relationship Type="http://schemas.openxmlformats.org/officeDocument/2006/relationships/slide" Target="/ppt/slides/slide8.xml" Id="R51df56b68f1740ce" /><Relationship Type="http://schemas.openxmlformats.org/officeDocument/2006/relationships/slide" Target="/ppt/slides/slide9.xml" Id="Re855f7c87e814690" /><Relationship Type="http://schemas.openxmlformats.org/officeDocument/2006/relationships/slide" Target="/ppt/slides/slide10.xml" Id="R72469c5b00524fd9" /><Relationship Type="http://schemas.openxmlformats.org/officeDocument/2006/relationships/slide" Target="/ppt/slides/slide11.xml" Id="R1cc324e98f5d4e59" /><Relationship Type="http://schemas.openxmlformats.org/officeDocument/2006/relationships/slide" Target="/ppt/slides/slide12.xml" Id="Rb629da31d5ce4a8b" /><Relationship Type="http://schemas.openxmlformats.org/officeDocument/2006/relationships/slide" Target="/ppt/slides/slide13.xml" Id="Rd803a2e14b1c4b5a" /><Relationship Type="http://schemas.openxmlformats.org/officeDocument/2006/relationships/slide" Target="/ppt/slides/slide14.xml" Id="Rad2df1d363e44a4c" /><Relationship Type="http://schemas.openxmlformats.org/officeDocument/2006/relationships/slide" Target="/ppt/slides/slide15.xml" Id="R8ce73002f0ca446f" /><Relationship Type="http://schemas.openxmlformats.org/officeDocument/2006/relationships/slide" Target="/ppt/slides/slide16.xml" Id="R59989f8f9be64bee" /><Relationship Type="http://schemas.openxmlformats.org/officeDocument/2006/relationships/slide" Target="/ppt/slides/slide17.xml" Id="Rb70e15ba4ac94230" /><Relationship Type="http://schemas.openxmlformats.org/officeDocument/2006/relationships/slide" Target="/ppt/slides/slide18.xml" Id="Rc132952c8c9f4a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c24c51587d4d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c956de004e43a9" /><Relationship Type="http://schemas.openxmlformats.org/officeDocument/2006/relationships/notesMaster" Target="/ppt/notesMasters/notesMaster1.xml" Id="R65086f14337a4e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998ee1e21343eb" /><Relationship Type="http://schemas.openxmlformats.org/officeDocument/2006/relationships/notesMaster" Target="/ppt/notesMasters/notesMaster1.xml" Id="R5447b875b7f14f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bbc3c0002b4271" /><Relationship Type="http://schemas.openxmlformats.org/officeDocument/2006/relationships/notesMaster" Target="/ppt/notesMasters/notesMaster1.xml" Id="Rbdbaf278e1364a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5cb1ff4ade419a" /><Relationship Type="http://schemas.openxmlformats.org/officeDocument/2006/relationships/notesMaster" Target="/ppt/notesMasters/notesMaster1.xml" Id="R4448b4e6c1c84f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b4e9c75906430a" /><Relationship Type="http://schemas.openxmlformats.org/officeDocument/2006/relationships/notesMaster" Target="/ppt/notesMasters/notesMaster1.xml" Id="Rc1a39be98d344a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d7674b10104c6f" /><Relationship Type="http://schemas.openxmlformats.org/officeDocument/2006/relationships/notesMaster" Target="/ppt/notesMasters/notesMaster1.xml" Id="R5c01d1e29fb147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adaad1cd5b4912" /><Relationship Type="http://schemas.openxmlformats.org/officeDocument/2006/relationships/notesMaster" Target="/ppt/notesMasters/notesMaster1.xml" Id="Rba094ac21fc143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7277eebc2f41a3" /><Relationship Type="http://schemas.openxmlformats.org/officeDocument/2006/relationships/notesMaster" Target="/ppt/notesMasters/notesMaster1.xml" Id="R9effd58d16214b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4a1613f177463f" /><Relationship Type="http://schemas.openxmlformats.org/officeDocument/2006/relationships/notesMaster" Target="/ppt/notesMasters/notesMaster1.xml" Id="R43b2c1be82a04f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4c8125faac4a95" /><Relationship Type="http://schemas.openxmlformats.org/officeDocument/2006/relationships/notesMaster" Target="/ppt/notesMasters/notesMaster1.xml" Id="R1779d4d5b80841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cca9073ed84397" /><Relationship Type="http://schemas.openxmlformats.org/officeDocument/2006/relationships/notesMaster" Target="/ppt/notesMasters/notesMaster1.xml" Id="R326a0b0724844f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fb2ee0fa7f491b" /><Relationship Type="http://schemas.openxmlformats.org/officeDocument/2006/relationships/notesMaster" Target="/ppt/notesMasters/notesMaster1.xml" Id="Ra28144bd51bb42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91fc7e11104ab3" /><Relationship Type="http://schemas.openxmlformats.org/officeDocument/2006/relationships/notesMaster" Target="/ppt/notesMasters/notesMaster1.xml" Id="R9ce11ec65c694c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4831b796e224e7a" /><Relationship Type="http://schemas.openxmlformats.org/officeDocument/2006/relationships/notesMaster" Target="/ppt/notesMasters/notesMaster1.xml" Id="R4b8328a6c3ce4a2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6890651af95475e" /><Relationship Type="http://schemas.openxmlformats.org/officeDocument/2006/relationships/notesMaster" Target="/ppt/notesMasters/notesMaster1.xml" Id="Ra428f755eec64fa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4381c47b744549" /><Relationship Type="http://schemas.openxmlformats.org/officeDocument/2006/relationships/notesMaster" Target="/ppt/notesMasters/notesMaster1.xml" Id="R7bd8b7a1cba5417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9870228792549cd" /><Relationship Type="http://schemas.openxmlformats.org/officeDocument/2006/relationships/notesMaster" Target="/ppt/notesMasters/notesMaster1.xml" Id="R7db48b8c454e4d6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b521f05bad4323" /><Relationship Type="http://schemas.openxmlformats.org/officeDocument/2006/relationships/notesMaster" Target="/ppt/notesMasters/notesMaster1.xml" Id="R269a22402cfa47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Guia.pdf, enunciado acadêmico ArchCorp, 2026, 13 páginas. Cenário 4 aplicado a uma locadora fictícia inspirada na Localiza, com dados sintéticos. Referência técnica: versão 534eab2e77363318fedda77509aca0e0031f4e3a, que parte da integração do PR #75 (https://github.com/Roger-Quinelato/projetoAplicado7/pull/75) e inclui as correções do PR #78. Marcos previstos conforme orientação da entrega. Autoria: Roger Quinelato — backend, produto e negócio; Raquel Pereira — frontend e levantamento de requisitos. Não há declaração de aceite docente.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relatório, seção 4.4, e docs/arquitetura/AS_IS.md. Categorias são o papel típico de cada sistema; produtos reais não foram informados.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AGENTS.md,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docs/api/openapi.yaml, docs/events/asyncapi.yaml e docs/EXEMPLOS_API.md.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scripts/demo_f1.py e evidência histórica consolidada em docs/EVIDENCIAS_VALIDACAO.md (20/10/2026). Não reexecutado em 28/10. ADR-006 não adotado: evolução para quando o CRM for externo. A chamada no mesmo processo não tem interrupção por timeout de rede.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scripts/demo_f2.py e evidência histórica consolidada em docs/EVIDENCIAS_VALIDACAO.md (20/10/2026). Não reexecutado em 28/10. O despachante invoca os consumidores internos; RabbitMQ recebe uma cópia opcional e não executa esses consumidores.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F3: quando o processo ainda não existe, resolução e reconciliação levantam uma falha recuperável. O dispatcher não confirma a inbox e mantém a tentativa disponível; se atingir FAILED, reprocessar explicitamente após recuperar a abertura. Regressões em tests/test_regressoes_fechamento.py cobrem falha temporária, limite de tentativas e reprocessamento, sem duplicação. A resolução preserva estados finais e usa o agregado das tarefas. Não há agendador: o despacho é explícito.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(nove atributos com necessidade, risco, estratégia, resultado e evidência) e relatório, seção 4.8. Desempenho: 29/10/2026, SQLite local, 60 clientes e 100 amostras por consulta em 10 consultas de negócio, versão 534eab2. Demonstração local; sem publicação pública (ADR-007).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 Correções de segurança: main f1669d7, PR #75, 25/10/2026, https://github.com/Roger-Quinelato/projetoAplicado7/pull/75, registro local do commit. Credencial com caracteres não ASCII comparada em bytes, exceção inesperada registra só errorType. FAILED é estado persistido da aplicação, não fila de erro RabbitMQ. Sem OIDC e sem tracing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(sete perguntas do enunciado) e docs/VISAO_NEGOCIO.md. Indicadores: tempo de ativação, recadastro, SLA incorreto, falhas por integração e tempo de diagnóstico.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output/evidencias/evidencias.json (tools/consolidar_evidencias.py), gerado em 29/10/2026 sobre a versão 534eab2; docs/EVIDENCIAS_VALIDACAO.md. O relatório operacional (scripts/relatorio_operacional.py) lê GET /api/v1/integration/insights, /metrics e os resumos e propõe uma decisão por indicador. No ensaio, o funil mostrou zero faturas pagas porque os roteiros não exercitam pagamento: a leitura orienta o que demonstrar. Agentes de revisão FDE (cliente e Guia) e QA (portão e código) trabalham somente leitura; a decisão fica com testes, CI e responsável. Demonstração local, sem publicação pública (ADR-007).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Correções de fechamento: F3 não confirma resolução/reconciliação sem processo; eventos mantêm retentativa e reprocessamento explícito. Encerramento do contrato cancela tarefas pendentes e deriva o estado agregado, preservando tarefas finais. Cancelamento financeiro usa a data UTC e o estado efetivo da consulta; vencida recebe 409. As correções não alteram registros antigos já consumidos. Autoria declarada: Roger Quinelato — backend, produto e negócio; Raquel Pereira — frontend e levantamento de requisitos. Permanecem ensaio e aceite docente; a demonstração é local e a publicação pública é evolução (ADR-007). OIDC, tracing distribuído e consumo pelo broker são evoluções.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19a6e31004e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9c62080c24e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920da917a45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55f39220445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225c968cbf4f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77708f82114f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BC7677-4172-48BC-BD3C-80EED31AD9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9F03DFC-1122-4BA0-BC62-2C2FA6CD2B3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016B5C-15B6-4902-BA12-06BAD0EEDF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A52986-1FC5-46CF-8892-243976EF7E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8516C6-1690-4AD4-A682-E5763DABB4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07651D-1F53-4D0E-9C7C-3B8B534071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4750F68-DBB3-4CCD-8ED2-213C8FC7CF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7095CDA-0832-41E6-9D2D-975868B416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ED4B2E-7A07-4F0E-989B-4A7F44C15D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2B5DE39-6E75-409F-872B-1811DA466E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28c6106b1e4e03" /><Relationship Type="http://schemas.openxmlformats.org/officeDocument/2006/relationships/slideLayout" Target="/ppt/slideLayouts/slideLayout1.xml" Id="R3b3bd16c218d44c3" /><Relationship Type="http://schemas.openxmlformats.org/officeDocument/2006/relationships/slideLayout" Target="/ppt/slideLayouts/slideLayout2.xml" Id="R61e59fe576744fcf" /><Relationship Type="http://schemas.openxmlformats.org/officeDocument/2006/relationships/slideLayout" Target="/ppt/slideLayouts/slideLayout3.xml" Id="Rf7270209f18e4dc6" /><Relationship Type="http://schemas.openxmlformats.org/officeDocument/2006/relationships/slideLayout" Target="/ppt/slideLayouts/slideLayout4.xml" Id="Rb7dd734e0537478d" /><Relationship Type="http://schemas.openxmlformats.org/officeDocument/2006/relationships/slideLayout" Target="/ppt/slideLayouts/slideLayout5.xml" Id="Ra175f4137d96493f" /><Relationship Type="http://schemas.openxmlformats.org/officeDocument/2006/relationships/slideLayout" Target="/ppt/slideLayouts/slideLayout6.xml" Id="R9fda460fe3774a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3bd16c218d44c3"/>
    <p:sldLayoutId xmlns:r="http://schemas.openxmlformats.org/officeDocument/2006/relationships" id="2147483650" r:id="R61e59fe576744fcf"/>
    <p:sldLayoutId xmlns:r="http://schemas.openxmlformats.org/officeDocument/2006/relationships" id="2147483651" r:id="Rf7270209f18e4dc6"/>
    <p:sldLayoutId xmlns:r="http://schemas.openxmlformats.org/officeDocument/2006/relationships" id="2147483652" r:id="Rb7dd734e0537478d"/>
    <p:sldLayoutId xmlns:r="http://schemas.openxmlformats.org/officeDocument/2006/relationships" id="2147483653" r:id="Ra175f4137d96493f"/>
    <p:sldLayoutId xmlns:r="http://schemas.openxmlformats.org/officeDocument/2006/relationships" id="2147483654" r:id="R9fda460fe3774a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16ef28f53a4fe3" /><Relationship Type="http://schemas.openxmlformats.org/officeDocument/2006/relationships/notesSlide" Target="/ppt/notesSlides/notesSlide1.xml" Id="R330c930880bb4e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857870b9cb41a4" /><Relationship Type="http://schemas.openxmlformats.org/officeDocument/2006/relationships/notesSlide" Target="/ppt/notesSlides/notesSlide2.xml" Id="Rc28ca908932048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95730f5bd04f50" /><Relationship Type="http://schemas.openxmlformats.org/officeDocument/2006/relationships/image" Target="/ppt/media/image.png" Id="R60fb467f074b4dc4" /><Relationship Type="http://schemas.openxmlformats.org/officeDocument/2006/relationships/notesSlide" Target="/ppt/notesSlides/notesSlide3.xml" Id="Rf67fd6ce4cc74c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5d63bc8ca94876" /><Relationship Type="http://schemas.openxmlformats.org/officeDocument/2006/relationships/notesSlide" Target="/ppt/notesSlides/notesSlide4.xml" Id="R90f005f1c6224b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5cc25ed370470d" /><Relationship Type="http://schemas.openxmlformats.org/officeDocument/2006/relationships/notesSlide" Target="/ppt/notesSlides/notesSlide5.xml" Id="Rafde3c4b3f3647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d0d082e1064adb" /><Relationship Type="http://schemas.openxmlformats.org/officeDocument/2006/relationships/image" Target="/ppt/media/image2.png" Id="R8b0f3b902c0c49f7" /><Relationship Type="http://schemas.openxmlformats.org/officeDocument/2006/relationships/notesSlide" Target="/ppt/notesSlides/notesSlide6.xml" Id="R0c43fd9d2dce4d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136c374ec4f15" /><Relationship Type="http://schemas.openxmlformats.org/officeDocument/2006/relationships/notesSlide" Target="/ppt/notesSlides/notesSlide7.xml" Id="R0f01ba37dfbd44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5e3bbd9cf14811" /><Relationship Type="http://schemas.openxmlformats.org/officeDocument/2006/relationships/notesSlide" Target="/ppt/notesSlides/notesSlide8.xml" Id="R4b21b90f7be147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69feb65dbe4af3" /><Relationship Type="http://schemas.openxmlformats.org/officeDocument/2006/relationships/notesSlide" Target="/ppt/notesSlides/notesSlide9.xml" Id="Rbf16548d0ae24d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2d07da9d674dcd" /><Relationship Type="http://schemas.openxmlformats.org/officeDocument/2006/relationships/notesSlide" Target="/ppt/notesSlides/notesSlide10.xml" Id="R71adde65e63c4bf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a3c6cb2515412d" /><Relationship Type="http://schemas.openxmlformats.org/officeDocument/2006/relationships/notesSlide" Target="/ppt/notesSlides/notesSlide11.xml" Id="R6e0330889dac47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a7db6c72654fb3" /><Relationship Type="http://schemas.openxmlformats.org/officeDocument/2006/relationships/notesSlide" Target="/ppt/notesSlides/notesSlide12.xml" Id="R85f98533aef040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db82d6caba4740" /><Relationship Type="http://schemas.openxmlformats.org/officeDocument/2006/relationships/notesSlide" Target="/ppt/notesSlides/notesSlide13.xml" Id="Rb638d0ec5a14462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1652e3f1c44f6d" /><Relationship Type="http://schemas.openxmlformats.org/officeDocument/2006/relationships/notesSlide" Target="/ppt/notesSlides/notesSlide14.xml" Id="Rfdee53e7a57348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8e407398c34ef6" /><Relationship Type="http://schemas.openxmlformats.org/officeDocument/2006/relationships/notesSlide" Target="/ppt/notesSlides/notesSlide15.xml" Id="Raa31ae42728247d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2c8b8e477544c2" /><Relationship Type="http://schemas.openxmlformats.org/officeDocument/2006/relationships/notesSlide" Target="/ppt/notesSlides/notesSlide16.xml" Id="R489cdd70e51d4e2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07804f2b3b4d3f" /><Relationship Type="http://schemas.openxmlformats.org/officeDocument/2006/relationships/notesSlide" Target="/ppt/notesSlides/notesSlide17.xml" Id="Ra05185a239534d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cecbe66644781" /><Relationship Type="http://schemas.openxmlformats.org/officeDocument/2006/relationships/notesSlide" Target="/ppt/notesSlides/notesSlide18.xml" Id="Ra23c2538ca2d4c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C237D-0E0D-4D83-A30A-E09082DD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2F5F9-407E-4A01-A3FB-275F84FE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8FB66-4401-432F-9B1E-A5C9298D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67446-3576-4CE4-BF77-6A911DFC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911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Roger Quinelato — backend, produto e negócio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Raquel Pereira — frontend e levantamento de requisitos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Versão 29/10/2026  ·  Versão do código 534eab2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Entrega pronta 09/11/2026  ·  Apresentação 23/11/2026 (previstas)</a:t>
            </a:r>
          </a:p>
        </p:txBody>
      </p:sp>
    </p:spTree>
    <p:extLst>
      <p:ext uri="{BB962C8B-B14F-4D97-AF65-F5344CB8AC3E}">
        <p14:creationId xmlns:p14="http://schemas.microsoft.com/office/powerpoint/2010/main" val="21385751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B3207-B575-40EA-AA05-C525FE6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3522D-5B4E-4898-BA7F-99D39E9C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0F535-D704-4AD0-8F25-ACE7B95C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32EAE-DA40-4C27-B939-1780AD5E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C386A-E87F-44A5-8C5A-079EB4D1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A47AB-30A2-4134-B814-AF5B93AE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3B9D23-D116-403E-BA4A-D408FB0E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36C09-30D3-42DA-9D39-135DFC19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5D716-40BB-406B-92CF-A3C1F1EB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2971644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DEDA9-AA51-4587-83D3-5344106D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B1160-2C7A-4704-A55A-488EFF2F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CB4DA4-5677-4386-86F4-7BF5FB02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71E37-DD73-4A50-A3C0-8147E154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43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5495C-9A58-4720-AEA9-0C469AD679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b467f074b4dc4"/>
          <a:stretch xmlns:a="http://schemas.openxmlformats.org/drawingml/2006/main"/>
        </p:blipFill>
        <p:spPr>
          <a:xfrm xmlns:a="http://schemas.openxmlformats.org/drawingml/2006/main">
            <a:off x="666750" y="1676992"/>
            <a:ext cx="10858500" cy="240864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F726C-6CC9-4E3B-8F2C-CF30E6D3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981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e lançamentos manuais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6540460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34D0E-A520-4130-90A7-956EEE1C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B67A4-0CA5-469F-A53B-219EEEF6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6FF98-B1C4-4676-834E-6F1DE81B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464BA-69D9-4214-94E3-7BF71DC3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7153D-442E-4617-90D1-F7573B41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5F092-47BA-4815-A177-FF364B27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9371512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3CA77-DC90-45DC-8009-C8EDC3CA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357D0-3F06-428A-BFF6-CBAFB939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B0CCB-EAE0-4607-A688-3E37DAEA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8593C-7978-4EF8-A1EB-174F0BD4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CB688-89DE-42C4-B427-8B01CA8B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0FAF1-4A54-4F7C-80A2-97246A48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10930413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099E3-C90F-445D-9476-C0FB5C8A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D37C22-329F-4CDC-97C7-B61E3A81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A4AC6B-B1A0-404A-B7A0-B57E41AF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FBE07-D82A-4372-B147-F05428F250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f3b902c0c49f7"/>
          <a:stretch xmlns:a="http://schemas.openxmlformats.org/drawingml/2006/main"/>
        </p:blipFill>
        <p:spPr>
          <a:xfrm xmlns:a="http://schemas.openxmlformats.org/drawingml/2006/main">
            <a:off x="1212891" y="1095375"/>
            <a:ext cx="3384469" cy="5191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D3C69-548C-4365-B85B-A298ED2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28750"/>
            <a:ext cx="5715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contextos de negócio com dados próprios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CustomerReader e ContractEntitlementPort ligam contextos por portas públicas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dispatcher e inbox entregam eventos sem duplicar efeitos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Auditoria e correlationId atravessam toda a operação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7B85D-0588-45A6-A1E6-5C5DC358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716313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8EEF90-9BC5-476D-8E4E-17CDA892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AC29D-876B-49C9-9869-6136077C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Sistemas corporativos envolvidos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A4DEC-DBB1-406D-B2B5-04A3041A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FE6BE-56A4-4D83-BAC8-B6BB8755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D8E30-A523-4B6F-AAC8-1F1AFA5C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5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7241B-922F-471F-9F6A-3CC7B473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5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do cliente; fornece dados a 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D1F29-F8BA-4DD8-B127-2A4A4BBA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778DE6-DDAF-4E7F-815B-23061C19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9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contratos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80BB77-9129-4439-87CA-C7C9C237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9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e SLA; publica eventos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47A08-07FD-4715-A796-B9783002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8BB0F-CD99-404B-B3E9-B36D8FEC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62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Módulo financeiro de ERP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AB026-950F-4171-8559-A82CCBF3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62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Faturas e pagamentos por eventos de contrato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B5370-8174-4BA8-8EF4-D6B8F14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24h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7F65E-54A0-4071-86C0-AA46A416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14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atendimento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7A4CC-51E2-4591-B659-236D3300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14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com SLA consultado em Contracts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C81138-F6B5-42DC-BBED-077016E9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Gestão de processos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6662D6-B771-44CD-97C6-9B2388AB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BPM /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E6525-E79F-47BF-A13F-A61DCEF4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6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Retirada e resolução iniciadas por eventos</a:t>
            </a:r>
          </a:p>
        </p:txBody>
      </p:sp>
    </p:spTree>
    <p:extLst>
      <p:ext uri="{BB962C8B-B14F-4D97-AF65-F5344CB8AC3E}">
        <p14:creationId xmlns:p14="http://schemas.microsoft.com/office/powerpoint/2010/main" val="15193464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50DCBA-47CE-4480-A157-3E775EF7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C4209-7F19-49C7-A9D2-CE7C0AD3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EFACB2-901C-40E3-AC2C-BBA0F55B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96F71-2571-486D-8768-EA45D815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88D44-249F-4C2C-8A33-62100136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1D1EA1-A68E-4C8A-A16D-4480822E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8C632-001F-432C-BDA5-15B47E41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924B8-900E-4F39-9C69-74E34FA5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884BE-B2BF-46AB-93D4-32C985E0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5DC11-B4A3-4DC0-9034-3A86C3B5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45CD4-8EE7-4842-A954-4DAF478D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EFD701-2349-4303-A735-9DD81839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2A5DA-F1BC-498D-A217-2B338B95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9797F-AB16-40A1-AC9D-AFEFFD38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A2202-726D-46A1-AEEA-D123F91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1817115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D45DE-26EC-4BE3-A8E7-81DDC273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2931A-A1F0-4A0C-A55C-1645B58A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APIs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60127-E457-4BE3-AE39-58334A5D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6B21A-7603-4873-B929-10EAD314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7239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/api/v1/contracts/reservations/{id}/draft  ·  F1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/api/v1/contracts/{id}/activate  ·  F2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/api/v1/support/tickets  ·  F3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/api/v1/integration/outbox/dispatch  ·  entrega de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GET /api/v1/operations/{correlationId}  ·  trilha consolidada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9B3A7-E453-4424-9FF4-BD30FC81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OpenAPI 3.1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Swagger em /docs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18596-D00A-400F-9484-5001FB5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AsyncAPI 3.0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 eventos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3A61A-CD23-46D1-9A20-D7B08417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problem+json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code e correlationId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FC273-4FEF-406F-A78E-2C5691C4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Comandos repetíveis aceitam Idempotency-Key</a:t>
            </a:r>
          </a:p>
        </p:txBody>
      </p:sp>
    </p:spTree>
    <p:extLst>
      <p:ext uri="{BB962C8B-B14F-4D97-AF65-F5344CB8AC3E}">
        <p14:creationId xmlns:p14="http://schemas.microsoft.com/office/powerpoint/2010/main" val="5951319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74338-A8F9-4C20-8ABB-C6EAB47F69C7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FF3283-FB9D-4B11-8641-8F246B9D75F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69AAC-0FEF-4C3F-8EC3-02B32670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0C0EB-6F2F-4E55-B761-33103C65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8B45A-4E98-4A47-8FE6-1CF08048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674CB-6756-42D1-B7D0-E70A1944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A9DB1-CC9D-46C5-98E7-5EB79D4B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E75A8-E816-4A72-BCA1-D6B16F6A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200DA-DC43-4B91-8CAD-F5461168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9EFCF3-9DFD-4AB4-A84D-FEFAAC26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6725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Mesmo customerId do CRM: sem recadastro nem cliente duplicado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018EF9-28BC-4D74-898E-271635F6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F1 histórico: 20/20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385466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41A81-2C5C-49FC-9BC7-9C2D0989CFE5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F680C-39A4-476F-88C0-4523B5E42A36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BED96-967D-4200-8B22-DA4BF2556DA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650957-D0ED-4A2B-AD72-9CCF7E87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F45A0D-BFAB-4A44-B334-1824C84F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D7A27-EE91-402A-A35A-579258D2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52B5F-496B-4861-BECB-6523FC2C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4FD4C-5A6C-4FBA-8AAA-D9D1DD71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31098-F907-49EF-B5D5-475B3F76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D0775-9169-4D1D-938A-5BCF128B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BDD74-0C33-472B-A749-1F9F4594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148F5-C312-479E-BB14-B58DB1FF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245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F2 histórico: 14/14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4420455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C16F6-ECEC-4DB5-879D-A5E6ABD2B094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8BBE1-FDA0-47F0-B520-2A08C56EAB8F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70ED59-A022-4F10-8F1B-F163626D1A7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FC7E14-F8CE-4078-8585-75B460A7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ED385-A036-4725-8172-7D9E4D60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EBFE3-C387-453C-BF83-B2EC4E8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2B7B8-491F-494A-8E67-111CC883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13F66-9032-4033-AA93-7DC57117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10870-9214-4596-B96E-BF453123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1CA121-D621-464F-B394-01197AB1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63AB0-86B3-407B-920F-EAA7B182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Recuperação: resolução aguarda a abertura, sem confirmar a inbox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0FF28-D216-4A5B-B4BC-86F3A53E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197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F3 histórico: 15/15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20138593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5E18F-3E8D-4FF9-93AA-FE4D8FF7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EF26A-776F-4FBF-B752-27FD4B7E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contratos técnicos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7E770-344E-4D3E-ABCF-E64214B8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89A18-3976-423E-928D-82E0C4C9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DB843-3361-4511-AD3A-68067A28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AEE42F-C393-4D4D-BCA9-E6840C6E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12581125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BA6166-733A-4E76-9B01-2E3BEDBD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81C02-4421-4661-BC02-CB4D4EAE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Análise de qualidade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13F3B-CF1E-47EE-A005-C584EC8B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1B274-9419-4FA9-945A-30146320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Atributo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5FD0F-641A-4EC1-8975-63D14582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90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Risco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F5BBC-5F5E-4D3A-B776-ABB082F1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906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Estratégia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752AD-7BA4-48C1-BB28-96364871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90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E1ABE-2980-4244-9D10-5651F750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F9B4-F81A-42E3-B008-4C5E01FF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145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errado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876333-6284-4C7A-BC6E-5892DD5B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e IDs legados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416515-7B42-4B6B-B287-BEF0505C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Mesma identidade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F37F3-E4B7-4541-A37B-CB02B75D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017B6-D999-45A6-8A44-831BD34A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 dupla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0F052-C8F5-4603-A2ED-1BB562BC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idempotência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A854C9-8A5B-41A9-A76A-C85F661A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Um efeito por fato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33A29C-F8FC-43DE-A0B5-36622AB0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Disponibilidade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95667-B4C9-40CA-8343-6250A8C3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766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perdido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BBE760-98DA-491B-9C27-32B6FFA7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pendente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10254C-F7DF-40D8-8E1E-4D4D5A8D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Reconciliação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86A73-F2CF-4A85-95B2-039FC7A8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Manutenibilidade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D6A639-11CF-4A39-BA8E-C765BC87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Acoplamento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C42A1-805C-46BB-9644-2C89CDB1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teste de fronteira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C0980F-EAA5-4019-8338-24432281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A2EC36-7AEC-4214-A2ED-1CAACA16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76AC80-1465-4D90-90BE-2FFE83F0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387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Latência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C2DB36-15B0-4C65-99E1-23DCB5CB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3C98E0-0A2D-4A2C-AE6D-C6C7D35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387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máximo 21,53 ms</a:t>
            </a:r>
          </a:p>
        </p:txBody>
      </p:sp>
    </p:spTree>
    <p:extLst>
      <p:ext uri="{BB962C8B-B14F-4D97-AF65-F5344CB8AC3E}">
        <p14:creationId xmlns:p14="http://schemas.microsoft.com/office/powerpoint/2010/main" val="18341641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21A97-83B4-4B0D-B326-14EE0818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7A3F2-DA2C-40B7-BBFB-384C6E4E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2281B-8691-4656-A9E0-8F08FCB2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88C3E-888B-41B3-8C1E-F5EEFE29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5372A-92AA-4128-A208-BCDE788D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FAILED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FEC5D-999F-4BF8-A0EB-CF7E06BB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E1A99-83E2-4E65-A58B-5EA6CED4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compartilhado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Credenciais comparadas em bytes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Erros sem mensagem sensível nos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3EB99-D5AD-4B0F-8DCC-4326207E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2D22E-3203-4136-9161-A4FF4644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DEE49-F063-4C3B-A482-E9EBC895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1028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Regressões cobrem recuperação fora de ordem e estados finais.</a:t>
            </a:r>
          </a:p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Falhas permanecem recuperáveis por retentativa ou reprocessamento explícito.</a:t>
            </a:r>
          </a:p>
        </p:txBody>
      </p:sp>
    </p:spTree>
    <p:extLst>
      <p:ext uri="{BB962C8B-B14F-4D97-AF65-F5344CB8AC3E}">
        <p14:creationId xmlns:p14="http://schemas.microsoft.com/office/powerpoint/2010/main" val="15920749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07C037-C4E2-436C-A0CF-F4E2EE93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740BD-070C-4EA0-B5C8-1F96DD01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Escalabilidade manutenção e evolução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66456-88A8-45B2-B8D7-AAFC0DEE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8AE56-8C48-4F08-9EC1-009E2889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Escalabilidade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535C1-CA59-48B9-933B-C79CD425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Réplicas da API sem estado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Consumidores idempotentes por fila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só com métricas e ADR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2E0EF-4755-43C9-86B9-623FADA1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Manutenção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8C17E-0A40-4541-8F41-66203394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no contexto proprietário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Testes de contrato e de fronteira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09508-F744-4365-ABB6-4417311F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Evolução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5C956-435D-491B-B176-C7F40525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aditivos; quebra cria v2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Migrações aditivas (ADR-002)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Atualização gradual por versão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3DF0EF-B70F-48E3-88DD-DDA548FB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Viabilidade: um implantável, serviços gratuitos (não custo zero) e equipe júnior; custos reais a levantar</a:t>
            </a:r>
          </a:p>
        </p:txBody>
      </p:sp>
    </p:spTree>
    <p:extLst>
      <p:ext uri="{BB962C8B-B14F-4D97-AF65-F5344CB8AC3E}">
        <p14:creationId xmlns:p14="http://schemas.microsoft.com/office/powerpoint/2010/main" val="7696397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4E440-FB65-4C33-9D03-DC62CE68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6FD9B-030E-4F3E-983E-6137C801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Evidências e informação operacional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82208-8065-4375-8DD1-1DB75CE5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C6172-8DEA-4AEA-BF1A-B045568A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Verificação da versão 534eab2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4951D8-5D77-4E13-9D82-23A248A2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519112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269 testes Python aprovados (14 ignorados)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19 testes da interface aprovados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F1, F2 e F3 concluídos sem falha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máximo de 21,53 ms (meta 500 ms)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A5B11-732F-4E36-A58F-7258C0C0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Dos logs à decisão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D124E-581C-4894-BF64-328AC2C8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47875"/>
            <a:ext cx="504825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Funil F1→F2→F3 e SLA cumprido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Atraso de despacho por consumidor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Falhas, retentativas e duplicidades evitadas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e erros por código, uso por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99B1B-8FCD-4DBE-BFC6-8C15B216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Números gerados das execuções, sem transcrição manual.</a:t>
            </a:r>
          </a:p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CI com PostgreSQL 16, RabbitMQ e navegador a cada PR.</a:t>
            </a:r>
          </a:p>
        </p:txBody>
      </p:sp>
    </p:spTree>
    <p:extLst>
      <p:ext uri="{BB962C8B-B14F-4D97-AF65-F5344CB8AC3E}">
        <p14:creationId xmlns:p14="http://schemas.microsoft.com/office/powerpoint/2010/main" val="8352628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8E024-D397-49F8-AEC5-0E695F53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D113F-3AB0-4D6F-88CC-88F359BD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marcos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545AA-4DC4-4494-A706-885EDD5C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29/10/2026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B1A5D-64B8-4A81-8045-F486C97A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B33E28-50AA-45A6-8BBE-B27C1719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Os três fluxos têm evidências no protótipo acadêmico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Regressões cobrem recuperação e estados finais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59C8E-8451-4EA0-8262-A6CB0DBB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8EB7D-7358-47C2-87E5-4E0F354D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52625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F3 aguarda a abertura e permite reprocessamento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 respeita o agregado das tarefas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 vencida não aceita cancelamento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Roger Quinelato e Raquel Pereira: autoria preenchida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7ACBF0-A319-4114-BF9D-1BA41F0B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43500"/>
            <a:ext cx="904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Entrega pronta prevista para 09/11/2026</a:t>
            </a:r>
          </a:p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Apresentação prevista para 23/11/2026</a:t>
            </a:r>
          </a:p>
        </p:txBody>
      </p:sp>
    </p:spTree>
    <p:extLst>
      <p:ext uri="{BB962C8B-B14F-4D97-AF65-F5344CB8AC3E}">
        <p14:creationId xmlns:p14="http://schemas.microsoft.com/office/powerpoint/2010/main" val="7838659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2026-10-29T22:38:59.5840000Z</dcterms:created>
  <dcterms:modified xsi:type="dcterms:W3CDTF">2026-10-29T22:38:59.5840000Z</dcterms:modified>
</coreProperties>
</file>