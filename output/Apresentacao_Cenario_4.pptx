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601f7e7ce24c84" /><Relationship Type="http://schemas.openxmlformats.org/officeDocument/2006/relationships/extended-properties" Target="/docProps/app.xml" Id="R39be722d9a9e44e3" /><Relationship Type="http://schemas.openxmlformats.org/officeDocument/2006/relationships/officeDocument" Target="/ppt/presentation.xml" Id="Rf1ecde741f4c4d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fca8afdb6824539"/>
  </p:sldMasterIdLst>
  <p:notesMasterIdLst>
    <p:notesMasterId xmlns:r="http://schemas.openxmlformats.org/officeDocument/2006/relationships" r:id="R7ca66f6d40a4440c"/>
  </p:notesMasterIdLst>
  <p:sldIdLst>
    <p:sldId xmlns:r="http://schemas.openxmlformats.org/officeDocument/2006/relationships" id="256" r:id="R071185443a0d4dc9"/>
    <p:sldId xmlns:r="http://schemas.openxmlformats.org/officeDocument/2006/relationships" id="257" r:id="Ra1cac1bf3e5a443c"/>
    <p:sldId xmlns:r="http://schemas.openxmlformats.org/officeDocument/2006/relationships" id="258" r:id="Recbe8cb03b464ef0"/>
    <p:sldId xmlns:r="http://schemas.openxmlformats.org/officeDocument/2006/relationships" id="259" r:id="R5967fdacdc2c43d3"/>
    <p:sldId xmlns:r="http://schemas.openxmlformats.org/officeDocument/2006/relationships" id="260" r:id="R0266d84eced943bf"/>
    <p:sldId xmlns:r="http://schemas.openxmlformats.org/officeDocument/2006/relationships" id="261" r:id="R6967d862dfc84338"/>
    <p:sldId xmlns:r="http://schemas.openxmlformats.org/officeDocument/2006/relationships" id="262" r:id="R88abd5c3b1e54cc6"/>
    <p:sldId xmlns:r="http://schemas.openxmlformats.org/officeDocument/2006/relationships" id="263" r:id="R78c7142ffc4f481b"/>
    <p:sldId xmlns:r="http://schemas.openxmlformats.org/officeDocument/2006/relationships" id="264" r:id="R753bb430fcfb4baf"/>
    <p:sldId xmlns:r="http://schemas.openxmlformats.org/officeDocument/2006/relationships" id="265" r:id="Rf7dfcbc5a0e542f7"/>
    <p:sldId xmlns:r="http://schemas.openxmlformats.org/officeDocument/2006/relationships" id="266" r:id="Re21c362acffc4b0f"/>
    <p:sldId xmlns:r="http://schemas.openxmlformats.org/officeDocument/2006/relationships" id="267" r:id="Re9eaf8dcf90d4414"/>
    <p:sldId xmlns:r="http://schemas.openxmlformats.org/officeDocument/2006/relationships" id="268" r:id="R5d46dfa8cb9c47d1"/>
    <p:sldId xmlns:r="http://schemas.openxmlformats.org/officeDocument/2006/relationships" id="269" r:id="R712e55b3022c4a61"/>
    <p:sldId xmlns:r="http://schemas.openxmlformats.org/officeDocument/2006/relationships" id="270" r:id="Rd26d67b40fe7446b"/>
    <p:sldId xmlns:r="http://schemas.openxmlformats.org/officeDocument/2006/relationships" id="271" r:id="Rfa05c6175e60456a"/>
    <p:sldId xmlns:r="http://schemas.openxmlformats.org/officeDocument/2006/relationships" id="272" r:id="Ra34050f536f84071"/>
    <p:sldId xmlns:r="http://schemas.openxmlformats.org/officeDocument/2006/relationships" id="273" r:id="Rc4c876d3b86547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eeba6501f649b7" /><Relationship Type="http://schemas.openxmlformats.org/officeDocument/2006/relationships/slideMaster" Target="/ppt/slideMasters/slideMaster1.xml" Id="R6fca8afdb6824539" /><Relationship Type="http://schemas.openxmlformats.org/officeDocument/2006/relationships/notesMaster" Target="/ppt/notesMasters/notesMaster1.xml" Id="R7ca66f6d40a4440c" /><Relationship Type="http://schemas.openxmlformats.org/officeDocument/2006/relationships/presProps" Target="/ppt/presProps.xml" Id="Rca99cb97046941e6" /><Relationship Type="http://schemas.openxmlformats.org/officeDocument/2006/relationships/tableStyles" Target="/ppt/tableStyles.xml" Id="R86ee1cca7c484153" /><Relationship Type="http://schemas.openxmlformats.org/officeDocument/2006/relationships/slide" Target="/ppt/slides/slide1.xml" Id="R071185443a0d4dc9" /><Relationship Type="http://schemas.openxmlformats.org/officeDocument/2006/relationships/slide" Target="/ppt/slides/slide2.xml" Id="Ra1cac1bf3e5a443c" /><Relationship Type="http://schemas.openxmlformats.org/officeDocument/2006/relationships/slide" Target="/ppt/slides/slide3.xml" Id="Recbe8cb03b464ef0" /><Relationship Type="http://schemas.openxmlformats.org/officeDocument/2006/relationships/slide" Target="/ppt/slides/slide4.xml" Id="R5967fdacdc2c43d3" /><Relationship Type="http://schemas.openxmlformats.org/officeDocument/2006/relationships/slide" Target="/ppt/slides/slide5.xml" Id="R0266d84eced943bf" /><Relationship Type="http://schemas.openxmlformats.org/officeDocument/2006/relationships/slide" Target="/ppt/slides/slide6.xml" Id="R6967d862dfc84338" /><Relationship Type="http://schemas.openxmlformats.org/officeDocument/2006/relationships/slide" Target="/ppt/slides/slide7.xml" Id="R88abd5c3b1e54cc6" /><Relationship Type="http://schemas.openxmlformats.org/officeDocument/2006/relationships/slide" Target="/ppt/slides/slide8.xml" Id="R78c7142ffc4f481b" /><Relationship Type="http://schemas.openxmlformats.org/officeDocument/2006/relationships/slide" Target="/ppt/slides/slide9.xml" Id="R753bb430fcfb4baf" /><Relationship Type="http://schemas.openxmlformats.org/officeDocument/2006/relationships/slide" Target="/ppt/slides/slide10.xml" Id="Rf7dfcbc5a0e542f7" /><Relationship Type="http://schemas.openxmlformats.org/officeDocument/2006/relationships/slide" Target="/ppt/slides/slide11.xml" Id="Re21c362acffc4b0f" /><Relationship Type="http://schemas.openxmlformats.org/officeDocument/2006/relationships/slide" Target="/ppt/slides/slide12.xml" Id="Re9eaf8dcf90d4414" /><Relationship Type="http://schemas.openxmlformats.org/officeDocument/2006/relationships/slide" Target="/ppt/slides/slide13.xml" Id="R5d46dfa8cb9c47d1" /><Relationship Type="http://schemas.openxmlformats.org/officeDocument/2006/relationships/slide" Target="/ppt/slides/slide14.xml" Id="R712e55b3022c4a61" /><Relationship Type="http://schemas.openxmlformats.org/officeDocument/2006/relationships/slide" Target="/ppt/slides/slide15.xml" Id="Rd26d67b40fe7446b" /><Relationship Type="http://schemas.openxmlformats.org/officeDocument/2006/relationships/slide" Target="/ppt/slides/slide16.xml" Id="Rfa05c6175e60456a" /><Relationship Type="http://schemas.openxmlformats.org/officeDocument/2006/relationships/slide" Target="/ppt/slides/slide17.xml" Id="Ra34050f536f84071" /><Relationship Type="http://schemas.openxmlformats.org/officeDocument/2006/relationships/slide" Target="/ppt/slides/slide18.xml" Id="Rc4c876d3b86547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6366311d4742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d37d2015084bd9" /><Relationship Type="http://schemas.openxmlformats.org/officeDocument/2006/relationships/notesMaster" Target="/ppt/notesMasters/notesMaster1.xml" Id="R3e0e00d265f94d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5da0e63a9642bd" /><Relationship Type="http://schemas.openxmlformats.org/officeDocument/2006/relationships/notesMaster" Target="/ppt/notesMasters/notesMaster1.xml" Id="Ref4016085ad34f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6e9bf087994ec2" /><Relationship Type="http://schemas.openxmlformats.org/officeDocument/2006/relationships/notesMaster" Target="/ppt/notesMasters/notesMaster1.xml" Id="R4afb313853e943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b960fca07a4513" /><Relationship Type="http://schemas.openxmlformats.org/officeDocument/2006/relationships/notesMaster" Target="/ppt/notesMasters/notesMaster1.xml" Id="Rdd1a557b5e9d4da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fbf8a316da47ae" /><Relationship Type="http://schemas.openxmlformats.org/officeDocument/2006/relationships/notesMaster" Target="/ppt/notesMasters/notesMaster1.xml" Id="R78a76d1abfe149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9062290d914f7b" /><Relationship Type="http://schemas.openxmlformats.org/officeDocument/2006/relationships/notesMaster" Target="/ppt/notesMasters/notesMaster1.xml" Id="Rae3f4d3e6bf64b0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04c34d71743fa" /><Relationship Type="http://schemas.openxmlformats.org/officeDocument/2006/relationships/notesMaster" Target="/ppt/notesMasters/notesMaster1.xml" Id="R55460dfaa3374b3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08401ad07b04d4f" /><Relationship Type="http://schemas.openxmlformats.org/officeDocument/2006/relationships/notesMaster" Target="/ppt/notesMasters/notesMaster1.xml" Id="R829ebba913f64c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8f03102475435f" /><Relationship Type="http://schemas.openxmlformats.org/officeDocument/2006/relationships/notesMaster" Target="/ppt/notesMasters/notesMaster1.xml" Id="R374339ac0467488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246bd5ae04a4f41" /><Relationship Type="http://schemas.openxmlformats.org/officeDocument/2006/relationships/notesMaster" Target="/ppt/notesMasters/notesMaster1.xml" Id="R3d9f21f1107249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bc23ab9d3849cc" /><Relationship Type="http://schemas.openxmlformats.org/officeDocument/2006/relationships/notesMaster" Target="/ppt/notesMasters/notesMaster1.xml" Id="Reb30c5e0d66d4e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728369e5184374" /><Relationship Type="http://schemas.openxmlformats.org/officeDocument/2006/relationships/notesMaster" Target="/ppt/notesMasters/notesMaster1.xml" Id="R81695945d18b439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1bad9893d4b480e" /><Relationship Type="http://schemas.openxmlformats.org/officeDocument/2006/relationships/notesMaster" Target="/ppt/notesMasters/notesMaster1.xml" Id="R4d0cddcb347c408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5f34a52e084c82" /><Relationship Type="http://schemas.openxmlformats.org/officeDocument/2006/relationships/notesMaster" Target="/ppt/notesMasters/notesMaster1.xml" Id="Rb0ed2e1a223d469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c5ceaab163047e1" /><Relationship Type="http://schemas.openxmlformats.org/officeDocument/2006/relationships/notesMaster" Target="/ppt/notesMasters/notesMaster1.xml" Id="R9bd6b7eadee54e0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1be5a17f9fe4aab" /><Relationship Type="http://schemas.openxmlformats.org/officeDocument/2006/relationships/notesMaster" Target="/ppt/notesMasters/notesMaster1.xml" Id="R009b5b34b23345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56479f8434c4f75" /><Relationship Type="http://schemas.openxmlformats.org/officeDocument/2006/relationships/notesMaster" Target="/ppt/notesMasters/notesMaster1.xml" Id="R9aab7597d48c424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64d6cc9069847b9" /><Relationship Type="http://schemas.openxmlformats.org/officeDocument/2006/relationships/notesMaster" Target="/ppt/notesMasters/notesMaster1.xml" Id="R05dda988160045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 principal: Projeto Aplicado ArchCorp, enunciado acadêmico, 2026. Cenário 4 aplicado a uma locadora fictícia inspirada na Localiza, com dados sintéticos.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enunciado acadêmico, páginas 1 a 3. Produtos, tecnologias e fluxos atuais específicos permanecem como premissas a validar.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docs/arquitetura/AS_IS.md e enunciado acadêmico. A sequência ilustrada é uma hipótese explícita para a demonstração.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PLANO_IMPLEMENTACAO_CENARIO_4.md, seção 5, e docs/MATRIZ_RASTREABILIDADE.md.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docs/adr/ADR-001-integracao-empresa-de-servicos.md. Opções consideradas: REST ponto a ponto, microsserviços completos, ESB central e monólito modular orientado a serviços.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docs/arquitetura/TO_BE.md. Os conectores representam dependências por portas e eventos, não acesso direto a tabelas.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relatório, seção 4.4, e docs/arquitetura/AS_IS.md. Categorias são o papel típico de cada sistema; produtos reais não foram informados.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AGENT.md, tabela de propriedade dos dados, e plano de implementação, seção 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docs/api/openapi.yaml, docs/events/asyncapi.yaml e docs/EXEMPLOS_API.md.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ADR-006 e scripts/demo_f1.py executado contra a API local em 17/10/2026.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teste test_f2_ativacao_cria_uma_cobranca_e_uma_preparacao_de_retirada e scripts/demo_f2.py.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docs/INTEGRACOES.md, testes de F3 e indisponibilidade e scripts/demo_f3.py.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docs/events/asyncapi.yaml, docs/api/openapi.yaml e plano de implementação, seção 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(nove atributos com necessidade, risco, estratégia, resultado e evidência) e relatório, seção 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docs/ATRIBUTOS_QUALIDADE.md e docs/EVIDENCIAS_VALIDACAO.md.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docs/EVOLUCAO_MANUTENCAO.md (sete perguntas do enunciado) e docs/VISAO_NEGOCIO.md. Indicadores: tempo de ativação, recadastro, SLA incorreto, falhas por integração e tempo de diagnóstico.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docs/EVIDENCIAS_VALIDACAO.md. Em 17/10/2026: 211 testes aprovados e 10 ignorados (PostgreSQL/RabbitMQ reais); roteiros demo_f1/f2/f3 contra uvicorn local; p95 de 200 consultas de prontidão em Windows 11, Python 3.12, SQLite.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Fonte: relatório técnico, seções 4.10 e 5, e docs/EVOLUCAO_MANUTENCAO.md. Inserir nomes e contribuições individuais antes da submissão.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9d6ae99f0645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7c408407e645d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1dc78527e2486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8b3bcbc2424c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ed1397216940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b7940c3c8f456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EF60EC6-5F39-45BC-AE31-66CB0272E8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39D9FA-5325-4842-8309-D5085AA9C1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C74F1F8-AE8B-4EA3-A0F7-63F7D8AEA5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FA8B7B-6501-49CE-9553-5BC9A29F03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0B66D0-CB67-49F2-B934-680A5892B1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46B2D54-1727-4DD0-AF15-C68FE27395A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86D2AE-70EA-42E2-B307-0548152C1E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B8D108E-8D22-4418-A6EC-3929487F46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A95225-DDF9-4C0B-A99D-BC8A546819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857505B-0AC6-4251-A20D-36C84D9F39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1cbcfab9fa42cc" /><Relationship Type="http://schemas.openxmlformats.org/officeDocument/2006/relationships/slideLayout" Target="/ppt/slideLayouts/slideLayout1.xml" Id="Rde6f38cf631f41c3" /><Relationship Type="http://schemas.openxmlformats.org/officeDocument/2006/relationships/slideLayout" Target="/ppt/slideLayouts/slideLayout2.xml" Id="R0ac39e635ff24be1" /><Relationship Type="http://schemas.openxmlformats.org/officeDocument/2006/relationships/slideLayout" Target="/ppt/slideLayouts/slideLayout3.xml" Id="R5781e1fd1ea64c6b" /><Relationship Type="http://schemas.openxmlformats.org/officeDocument/2006/relationships/slideLayout" Target="/ppt/slideLayouts/slideLayout4.xml" Id="Rc5a35a0954fc4d81" /><Relationship Type="http://schemas.openxmlformats.org/officeDocument/2006/relationships/slideLayout" Target="/ppt/slideLayouts/slideLayout5.xml" Id="R2b23f75af8064e2f" /><Relationship Type="http://schemas.openxmlformats.org/officeDocument/2006/relationships/slideLayout" Target="/ppt/slideLayouts/slideLayout6.xml" Id="R75a9ee88cbf843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6f38cf631f41c3"/>
    <p:sldLayoutId xmlns:r="http://schemas.openxmlformats.org/officeDocument/2006/relationships" id="2147483650" r:id="R0ac39e635ff24be1"/>
    <p:sldLayoutId xmlns:r="http://schemas.openxmlformats.org/officeDocument/2006/relationships" id="2147483651" r:id="R5781e1fd1ea64c6b"/>
    <p:sldLayoutId xmlns:r="http://schemas.openxmlformats.org/officeDocument/2006/relationships" id="2147483652" r:id="Rc5a35a0954fc4d81"/>
    <p:sldLayoutId xmlns:r="http://schemas.openxmlformats.org/officeDocument/2006/relationships" id="2147483653" r:id="R2b23f75af8064e2f"/>
    <p:sldLayoutId xmlns:r="http://schemas.openxmlformats.org/officeDocument/2006/relationships" id="2147483654" r:id="R75a9ee88cbf843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b83765baf84a07" /><Relationship Type="http://schemas.openxmlformats.org/officeDocument/2006/relationships/notesSlide" Target="/ppt/notesSlides/notesSlide1.xml" Id="Rb75a26c4a91047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a0d0f0c1f14986" /><Relationship Type="http://schemas.openxmlformats.org/officeDocument/2006/relationships/notesSlide" Target="/ppt/notesSlides/notesSlide2.xml" Id="R75e57d0ac6a745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1d558bc5d84048" /><Relationship Type="http://schemas.openxmlformats.org/officeDocument/2006/relationships/image" Target="/ppt/media/image.png" Id="R5f24c57f261a4ae6" /><Relationship Type="http://schemas.openxmlformats.org/officeDocument/2006/relationships/notesSlide" Target="/ppt/notesSlides/notesSlide3.xml" Id="R34096968415347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c368b951ae4771" /><Relationship Type="http://schemas.openxmlformats.org/officeDocument/2006/relationships/notesSlide" Target="/ppt/notesSlides/notesSlide4.xml" Id="Re1fc5ed802bd49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42f2d90e244b9c" /><Relationship Type="http://schemas.openxmlformats.org/officeDocument/2006/relationships/notesSlide" Target="/ppt/notesSlides/notesSlide5.xml" Id="R0de28649459847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a6855fe37445ee" /><Relationship Type="http://schemas.openxmlformats.org/officeDocument/2006/relationships/image" Target="/ppt/media/image2.png" Id="R7ba2c40846854e44" /><Relationship Type="http://schemas.openxmlformats.org/officeDocument/2006/relationships/notesSlide" Target="/ppt/notesSlides/notesSlide6.xml" Id="Rf307217f823744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bcbcff22b24054" /><Relationship Type="http://schemas.openxmlformats.org/officeDocument/2006/relationships/notesSlide" Target="/ppt/notesSlides/notesSlide7.xml" Id="Rd9929747c25f40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6474b28d05749e9" /><Relationship Type="http://schemas.openxmlformats.org/officeDocument/2006/relationships/notesSlide" Target="/ppt/notesSlides/notesSlide8.xml" Id="Rbdd37d6bb6bf403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e8bcedb5df4d5f" /><Relationship Type="http://schemas.openxmlformats.org/officeDocument/2006/relationships/notesSlide" Target="/ppt/notesSlides/notesSlide9.xml" Id="R5355d8c440e24f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7a29e765d74127" /><Relationship Type="http://schemas.openxmlformats.org/officeDocument/2006/relationships/notesSlide" Target="/ppt/notesSlides/notesSlide10.xml" Id="Rf0402d6b2b18446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4a47b590ba4e93" /><Relationship Type="http://schemas.openxmlformats.org/officeDocument/2006/relationships/notesSlide" Target="/ppt/notesSlides/notesSlide11.xml" Id="R8b1ce4213d914c5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d54360c69e4350" /><Relationship Type="http://schemas.openxmlformats.org/officeDocument/2006/relationships/notesSlide" Target="/ppt/notesSlides/notesSlide12.xml" Id="R8e3bbeb99abb45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3f83e42910494b" /><Relationship Type="http://schemas.openxmlformats.org/officeDocument/2006/relationships/notesSlide" Target="/ppt/notesSlides/notesSlide13.xml" Id="Rd9faac20eb454d2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3c7c302f564cc3" /><Relationship Type="http://schemas.openxmlformats.org/officeDocument/2006/relationships/notesSlide" Target="/ppt/notesSlides/notesSlide14.xml" Id="Rcf6083545b9e45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a8bbcdf6324f58" /><Relationship Type="http://schemas.openxmlformats.org/officeDocument/2006/relationships/notesSlide" Target="/ppt/notesSlides/notesSlide15.xml" Id="R6d5824c559024d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1cc37e136d477e" /><Relationship Type="http://schemas.openxmlformats.org/officeDocument/2006/relationships/notesSlide" Target="/ppt/notesSlides/notesSlide16.xml" Id="Rcd16eb210e2a411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f558cc183c4671" /><Relationship Type="http://schemas.openxmlformats.org/officeDocument/2006/relationships/notesSlide" Target="/ppt/notesSlides/notesSlide17.xml" Id="R5f9c77c501cf453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11e5c529984e2c" /><Relationship Type="http://schemas.openxmlformats.org/officeDocument/2006/relationships/notesSlide" Target="/ppt/notesSlides/notesSlide18.xml" Id="Rfff0306598ec4c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76C65-42C0-49EE-9A6C-931B971B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857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Arquitetura de Integração</a:t>
            </a:r>
          </a:p>
          <a:p xmlns:a="http://schemas.openxmlformats.org/drawingml/2006/main">
            <a:pPr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 Empresa de Serviços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FA065-CA24-46EC-A634-5ACF46E0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14750"/>
            <a:ext cx="571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C8DFE2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C8DFE2"/>
                </a:solidFill>
                <a:latin typeface="Arial"/>
                <a:ea typeface="Arial"/>
                <a:cs typeface="Arial"/>
              </a:rPr>
              <a:t>Projeto Aplicado  |  Cenário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E523D-F5F0-4DA9-BB30-852252C5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38250"/>
            <a:ext cx="17145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5D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CD117-F74D-47B8-A001-3DD20767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Equipe do Projeto Aplicado (nomes a preencher)</a:t>
            </a:r>
          </a:p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47604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92518-B5B4-4220-8D54-E8B495E6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981FB-6EB4-4E3C-9DD6-4C5D714C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Cenário e problema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910B8-8614-4F73-AC24-71C73928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5E4B4B-4F87-40DB-98D6-155A662A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561975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sistemas corporativos com integrações insuficientes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Duplicidade e lançamentos manuais entre áreas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Falhas difíceis de rastrear e processos fragmentados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Primeira entrega exige arquitetura e três fluxos funcionando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7450E-FF81-42FE-A3A6-535B3C05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3335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800428-4C36-4F79-9857-4EB79956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C61DA-5A80-4951-8F7E-557566394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6576D9-B00D-4467-A0EB-1D37731E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48125"/>
            <a:ext cx="18097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e assistência 24h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E3A105-7687-43DE-B6BA-7967A6C1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171450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Processos</a:t>
            </a:r>
          </a:p>
        </p:txBody>
      </p:sp>
    </p:spTree>
    <p:extLst>
      <p:ext uri="{BB962C8B-B14F-4D97-AF65-F5344CB8AC3E}">
        <p14:creationId xmlns:p14="http://schemas.microsoft.com/office/powerpoint/2010/main" val="20330260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D886F3-4BA7-4B99-8306-A1367FA1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F060B-CD0F-411F-AA9F-D60C2AE0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atual AS 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F6899-0F91-4AD4-B2A2-B35AF5C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FE8014-FDBF-4A2A-AF4C-AF2BE174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430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 de modelagem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52E73D-8D88-4F19-BE3A-E3C453C8D8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4c57f261a4ae6"/>
          <a:stretch xmlns:a="http://schemas.openxmlformats.org/drawingml/2006/main"/>
        </p:blipFill>
        <p:spPr>
          <a:xfrm xmlns:a="http://schemas.openxmlformats.org/drawingml/2006/main">
            <a:off x="666750" y="1676992"/>
            <a:ext cx="10858500" cy="240864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ACA00B-B42E-47AE-AA44-8A6F6A23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981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Recadastro, planilhas e lançamentos manuais ligam as áreas. O enunciado confirma os sistemas e os problemas gerais, mas não informa as interfaces atuais.</a:t>
            </a:r>
          </a:p>
        </p:txBody>
      </p:sp>
    </p:spTree>
    <p:extLst>
      <p:ext uri="{BB962C8B-B14F-4D97-AF65-F5344CB8AC3E}">
        <p14:creationId xmlns:p14="http://schemas.microsoft.com/office/powerpoint/2010/main" val="12791189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EE1E41-F07A-4D9F-B55E-BF58F104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80791-2564-48BA-AC77-9231AAAE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Requisitos prioritários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54981-5AD1-436F-8B3D-40FBFFAB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F1E45-DA63-4F9F-AA6A-8D715EF7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66675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01 a RF 02: identidade global e contrato sem recadastro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03: ativação cria cobrança e preparação de retirada sem duplicidade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04: chamado consulta contrato, grupo de veículo e SLA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RF 05 a RF 07: propagação cadastral, correlação e reprocessamento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F76EF3-2159-4747-BFA7-11F9FB45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81125"/>
            <a:ext cx="238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Qualidade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5FA0B-C8A1-4C8A-B9F3-0569CE0C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52625"/>
            <a:ext cx="3143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Interoperabilidade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Confiabilidade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Segurança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Observabilidade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Manutenibilidade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Disponibilidade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</p:spTree>
    <p:extLst>
      <p:ext uri="{BB962C8B-B14F-4D97-AF65-F5344CB8AC3E}">
        <p14:creationId xmlns:p14="http://schemas.microsoft.com/office/powerpoint/2010/main" val="20015834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3E905-08F9-4353-B02E-264B69E7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53911-FCDC-4B9C-909E-0F637951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Decisão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DE2170-3AB4-4291-B2CB-81800B705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26866-35F3-46CF-8C39-F9F59F262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381125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SOA pragmática em monólito modular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861581-42F6-485D-A65A-13036D62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95250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adaptadores preservam as fronteiras dos contextos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REST atende respostas imediatas; eventos representam fatos confirmados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PostgreSQL e RabbitMQ sustentam a demonstração local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20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futura depende de métricas de escala, disponibilidade ou cadência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8221C-38AA-4684-92D1-86F73A4A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ADR 001 aceito para o protótipo acadêmico</a:t>
            </a:r>
          </a:p>
        </p:txBody>
      </p:sp>
    </p:spTree>
    <p:extLst>
      <p:ext uri="{BB962C8B-B14F-4D97-AF65-F5344CB8AC3E}">
        <p14:creationId xmlns:p14="http://schemas.microsoft.com/office/powerpoint/2010/main" val="3017027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100763-6956-485B-BEFF-580A21DC5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C0A2F-E1B4-489A-A35C-004947AE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Arquitetura proposta TO BE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2E80F-7AEB-4B95-B7FD-1238424F8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ABE38-D401-4459-A4BA-0B3A9688F7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2c40846854e44"/>
          <a:stretch xmlns:a="http://schemas.openxmlformats.org/drawingml/2006/main"/>
        </p:blipFill>
        <p:spPr>
          <a:xfrm xmlns:a="http://schemas.openxmlformats.org/drawingml/2006/main">
            <a:off x="1212891" y="1095375"/>
            <a:ext cx="3384469" cy="5191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029D4-2393-4D8B-A7BC-5FC3ED59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428750"/>
            <a:ext cx="5715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Cinco contextos de negócio com dados próprios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CustomerReader e ContractEntitlementPort ligam contextos por portas públicas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dispatcher e inbox entregam eventos sem duplicar efeitos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7212B"/>
                </a:solidFill>
                <a:latin typeface="Arial"/>
                <a:ea typeface="Arial"/>
                <a:cs typeface="Arial"/>
              </a:rPr>
              <a:t>Auditoria e correlationId atravessam toda a operação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C5EA8B-9E75-4F91-AAE7-8FB11FF4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42925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Um processo, fronteiras preservadas por interfaces públicas</a:t>
            </a:r>
          </a:p>
        </p:txBody>
      </p:sp>
    </p:spTree>
    <p:extLst>
      <p:ext uri="{BB962C8B-B14F-4D97-AF65-F5344CB8AC3E}">
        <p14:creationId xmlns:p14="http://schemas.microsoft.com/office/powerpoint/2010/main" val="6466840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321A8-9333-4500-AD20-29391595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CD0C5C-D162-4556-86ED-5AB348519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Sistemas corporativos envolvidos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4A784-E2DF-4BCE-833E-1A1F2DB9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383B24-7B7F-47EE-81C0-60B0B59DF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5D5FB4-C76C-47EB-87ED-83EA68A0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45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 operacional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A156C-F976-45C0-9658-8ED20537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5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do cliente; fornece dados a 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CD95F0-36FE-4159-8C3A-464EF6E1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0EA44B-E600-4838-BE92-62018253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09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contratos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600BD-EB77-440E-87E4-C3906853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9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e SLA; publica eventos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B58CC-2832-4065-9145-6E2ECA79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Financeiro e faturamento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0BA3D-0328-4333-A0B0-3BC99A3E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362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Módulo financeiro de ERP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FBFD8-5AEB-4BCB-9883-13FC847C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62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Faturas e pagamentos por eventos de contrato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19B67-58ED-432C-BCB4-15FACFBE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433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Atendimento 24h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7EE1F-2C6C-410A-B7C0-577D10010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148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Sistema de atendimento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112E00-8AAE-484B-BF97-553267CC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148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com SLA consultado em Contracts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651466-7504-4430-A440-058905E1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28575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Gestão de processos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CF5F64-C195-4854-AB32-F989EC53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6732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BPM /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6368D-D945-4FFE-9F3E-E5D44545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26732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Retirada e resolução iniciadas por eventos</a:t>
            </a:r>
          </a:p>
        </p:txBody>
      </p:sp>
    </p:spTree>
    <p:extLst>
      <p:ext uri="{BB962C8B-B14F-4D97-AF65-F5344CB8AC3E}">
        <p14:creationId xmlns:p14="http://schemas.microsoft.com/office/powerpoint/2010/main" val="11856813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536538-AFCD-464B-861A-B72D6272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041BB9-9161-41A3-A907-2640CB11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Propriedade dos dados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5FAF3-2957-425C-878D-AF06B2F0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13EE2-53AA-4E07-AB66-1A4FB92B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382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CD1496-A15A-4EBF-B47E-8C4801DE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2382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Cliente, contato, consentimento, perfil de locação e oportunidade corporativa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B4C1C-9DDF-4CA4-A1D2-23068C74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193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Contracts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0A9CB-5861-4481-8DE0-140860DA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193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Reserva, contrato de locação, grupo de veículo, vigência, proteções e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C73DD7-3D91-4C95-B623-B7FB01892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003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Finance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F8250-B823-42EE-93B3-5E6F28665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8003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Pré-autorização, cobrança, fatura, pagamento, caução, multa e inadimplência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21842-4C56-43BA-9461-4102EFE4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814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Support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CA136-A53A-4EC1-999C-6FE6C010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814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Chamado, assistência, prioridade, histórico e resolução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9F545-F7D2-4B50-956B-5AB67451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6245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1556CC-1C02-4952-AC07-3856D48B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3624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Instância, tarefa, responsável, prazo e estado operacional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9522B-5466-40D2-9E1B-69D81A0E9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43500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Integration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01A111-EF2C-4B36-AF4F-45794B66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435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IDs legados, correlação, outbox, inbox e falhas</a:t>
            </a:r>
          </a:p>
        </p:txBody>
      </p:sp>
    </p:spTree>
    <p:extLst>
      <p:ext uri="{BB962C8B-B14F-4D97-AF65-F5344CB8AC3E}">
        <p14:creationId xmlns:p14="http://schemas.microsoft.com/office/powerpoint/2010/main" val="15611743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DE8AB-9E68-4A4F-8B5A-035C65A3E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C8D749-F7A7-4D27-BCED-8532F13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APIs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C232EC-D08E-43E7-8C64-1AFF12DE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42CF82-DD46-405C-A105-6C6053BF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7239000" cy="3619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/api/v1/contracts/reservations/{id}/draft  ·  F1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/api/v1/contracts/{id}/activate  ·  F2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/api/v1/support/tickets  ·  F3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POST /api/v1/integration/outbox/dispatch  ·  entrega de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72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>
                <a:solidFill>
                  <a:srgbClr val="17212B"/>
                </a:solidFill>
                <a:latin typeface="Arial"/>
                <a:ea typeface="Arial"/>
                <a:cs typeface="Arial"/>
              </a:rPr>
              <a:t>GET /api/v1/operations/{correlationId}  ·  trilha consolidada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EE705E-30F0-44E1-9F30-B20B031D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4287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OpenAPI 3.1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Swagger em /docs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B46A5-CEC1-4A9F-A354-D656A874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AsyncAPI 3.0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6 eventos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67CD3-BE43-4164-B98D-3AC16F07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2762250" cy="1143000"/>
          </a:xfrm>
          <a:prstGeom xmlns:a="http://schemas.openxmlformats.org/drawingml/2006/main" prst="roundRect">
            <a:avLst>
              <a:gd name="adj" fmla="val 1166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problem+json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code e correlationId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98C30-3776-4722-BB27-A667004E6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Comandos repetíveis aceitam Idempotency-Key</a:t>
            </a:r>
          </a:p>
        </p:txBody>
      </p:sp>
    </p:spTree>
    <p:extLst>
      <p:ext uri="{BB962C8B-B14F-4D97-AF65-F5344CB8AC3E}">
        <p14:creationId xmlns:p14="http://schemas.microsoft.com/office/powerpoint/2010/main" val="5818174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9FC8EA-85CA-4E39-804C-89E3BB589468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477000" y="2857500"/>
            <a:ext cx="11430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04E3CD-759E-4584-B213-BC4DC1FF1AA5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048000" y="28575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A6288-A3EC-4D3B-B4A5-661A84F2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1B931-0797-427B-9AB9-1141DD24F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F1 Cliente para reserva/contrato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775BBB-AD87-42D5-B6CD-5A91A03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EEF79-F400-42A5-BDFB-E85A2707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33625"/>
            <a:ext cx="20955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CRM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elegível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99D4E1-F6DC-49FA-B726-08CA9353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POST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/contracts/drafts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97F763-71F8-4254-9B92-5062BA2C5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33625"/>
            <a:ext cx="238125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rascunho DRAFT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C309C-F0BA-4802-B6D0-D471ABE8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00050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Idempotency Key devolve o mesmo contractId em uma repetição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C27F61-E025-4D76-9601-06208EF8F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67250"/>
            <a:ext cx="7905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CRM fora do ar: retentativa limitada com jitter e 503 sem efeito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2FB4BE-641F-4074-B7D5-AE2F96A4C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42925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Roteiro demo_f1.py: 20 de 20 checagens</a:t>
            </a:r>
          </a:p>
        </p:txBody>
      </p:sp>
    </p:spTree>
    <p:extLst>
      <p:ext uri="{BB962C8B-B14F-4D97-AF65-F5344CB8AC3E}">
        <p14:creationId xmlns:p14="http://schemas.microsoft.com/office/powerpoint/2010/main" val="14006068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9D19A2-AEA2-48A4-BB68-A348D212D05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000750" y="2952750"/>
            <a:ext cx="133350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F64383-CE4D-4D4D-A044-A5FCEAD4E59F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6000750" y="2143125"/>
            <a:ext cx="1333500" cy="8096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56129D-197D-4EC0-B4ED-1E1EF3DE2D8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2667000" y="29527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DC582F-158B-4CE3-9323-25097969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39A942-ACAA-4920-A90D-65A58C458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7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F2 Ativação cobrança e preparação de retirada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F7BB9E-124C-4E33-8D14-4A8E9A51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C899A-9458-428E-879E-AE473521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19050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04164A-2CAA-4723-A5B3-8477FECC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765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Outbox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ContractActivated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C5733-A9EE-418F-9991-4914B5CD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7145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Finance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cobrança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B0ACE6-778A-4084-A8DB-D6FBC37D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290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1 preparação de retirada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53201E-FB9F-42E3-83A9-C51814753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7239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Inbox e restrições únicas impedem efeitos duplicados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B4AB19-AD25-4E3D-87C1-4C5C99DE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2450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Roteiro demo_f2.py: 14 de 14 checagens</a:t>
            </a:r>
          </a:p>
        </p:txBody>
      </p:sp>
    </p:spTree>
    <p:extLst>
      <p:ext uri="{BB962C8B-B14F-4D97-AF65-F5344CB8AC3E}">
        <p14:creationId xmlns:p14="http://schemas.microsoft.com/office/powerpoint/2010/main" val="11593293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9C209A-1984-4FE3-BB0B-CDD56DD8D31B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6381750" y="39528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0A0E5-2618-47B4-B3F4-46882C0992E4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5143500" y="2476500"/>
            <a:ext cx="0" cy="10001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577A52-AC6A-4618-8C11-0A6B8319586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2857500" y="2000250"/>
            <a:ext cx="1047750" cy="857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8575">
            <a:solidFill>
              <a:srgbClr val="227C83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21FF86-2D30-4889-9FEE-71EB8E19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E3B909-74D8-49E6-BE28-697953CF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Fluxo F3 Chamado com SLA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CC6E28-E9B4-4130-9A25-C5D97C0F4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FA18DF-2C2C-4F0E-9566-01394488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2095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Support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abrir chamado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8F3A2-92EE-4F16-9FEC-D5AFCED3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524000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Contracts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elegibilidade e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78ECF3-7359-4AF4-9E05-5CC7BD83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76625"/>
            <a:ext cx="247650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7F2EF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Ticket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 ou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0EDEC-A92F-4326-9FAA-6EA640EE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2190750" cy="952500"/>
          </a:xfrm>
          <a:prstGeom xmlns:a="http://schemas.openxmlformats.org/drawingml/2006/main" prst="roundRect">
            <a:avLst>
              <a:gd name="adj" fmla="val 14000"/>
            </a:avLst>
          </a:prstGeom>
          <a:solidFill xmlns:a="http://schemas.openxmlformats.org/drawingml/2006/main">
            <a:srgbClr val="EEF3F7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Workflow</a:t>
            </a:r>
          </a:p>
          <a:p xmlns:a="http://schemas.openxmlformats.org/drawingml/2006/main">
            <a:pPr>
              <a:defRPr sz="1650" b="1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12B"/>
                </a:solidFill>
                <a:latin typeface="Arial"/>
                <a:ea typeface="Arial"/>
                <a:cs typeface="Arial"/>
              </a:rPr>
              <a:t>resolução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1BCAD7-EB31-49D5-9898-ED8354DA8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95300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Indisponibilidade preserva a solicitação para reconciliação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74C428-7F85-46E6-851A-A3AC4D3C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19750"/>
            <a:ext cx="590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Roteiro demo_f3.py: 15 de 15 checagens</a:t>
            </a:r>
          </a:p>
        </p:txBody>
      </p:sp>
    </p:spTree>
    <p:extLst>
      <p:ext uri="{BB962C8B-B14F-4D97-AF65-F5344CB8AC3E}">
        <p14:creationId xmlns:p14="http://schemas.microsoft.com/office/powerpoint/2010/main" val="177103052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36192D-7EE9-4F96-BA21-8A26038A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0006F-3E23-4AC0-93F5-6B74F257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 e reservas e contratos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877DF2-1640-40F4-A20B-66E1166F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810EA0-8CF1-488C-B662-FB4744E9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381125"/>
            <a:ext cx="6858000" cy="390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com identificadores legados associados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JSON UTF 8, UTC ISO 8601 e moeda explícita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OpenAPI para REST e AsyncAPI para eventos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Fonte oficial vence; divergência fica auditada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incompatível cria uma nova versão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88E1D-B1DA-4EA5-9E81-4B14C25B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333500"/>
            <a:ext cx="2381250" cy="37147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CBD6DF"/>
            </a:solidFill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eventType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eventVersion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occurredAt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causationId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producer</a:t>
            </a:r>
          </a:p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payload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294ADC-4FF0-4C7E-81CE-14F1FE18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286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Envelope obrigatório</a:t>
            </a:r>
          </a:p>
        </p:txBody>
      </p:sp>
    </p:spTree>
    <p:extLst>
      <p:ext uri="{BB962C8B-B14F-4D97-AF65-F5344CB8AC3E}">
        <p14:creationId xmlns:p14="http://schemas.microsoft.com/office/powerpoint/2010/main" val="21360841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0C23B8-C33F-443D-9DEB-1B4C8222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CB15C8-FED7-43CE-808D-909BF89A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Análise de qualidade arquitetural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A090C-1547-40C5-BEBA-56590763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2CFD7-3A24-4CA2-A88C-F2BD42D0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Atributo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AD841A-9ECB-47E3-8C66-06E65122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1906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Risco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EC9F97-0AC7-4ABF-ABEC-526ED475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19062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Estratégia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C682C-1D9D-4186-A8C1-CD8682A9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19062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Resultado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AD7A6-3A56-4B4B-9822-22E8E22F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Interoperabilidade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B907B-17C4-4E0A-87F1-59B58F04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7145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Cliente errado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E13AA8-68F7-42F7-B037-24EC2ED7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UUID global e IDs legados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04610B-7F92-4B9C-89C2-E1AF9FC7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145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Mesma identidade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F65B12-6C92-4D83-89DB-CA049AE7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718F2C-1621-416B-BAEE-7FC86DC8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955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Cobrança dupla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771A8C-40C3-4B77-8449-F9E2F482B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955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idempotência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6E0B60-9DE0-4EFD-A58D-809E47E3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4955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Um efeito por fato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543790-225B-4E58-A2AB-2A57286A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Disponibilidade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1FFDF5-AD1B-4C7A-B961-A73CFD1F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766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Chamado perdido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E86A1F-B9ED-45F1-BCB9-B6C8B13BE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766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Estado pendente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79FEE8-4B5B-47E6-96D6-C3CDCD51E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766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Reconciliação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802BE9-2985-4EEF-A680-DA4B16B6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Manutenibilidade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A71A8E-2135-4A81-910D-8AF59FB96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5765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Acoplamento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750D08-BA57-40BA-961E-E7FBB59D1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576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Portas e teste de fronteira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B36BCA-97C7-4774-995E-F9129BBF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A4641-9717-4777-A007-E73E2270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Desempenho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5A05C6-6D22-4EDE-BE77-0DB748F8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38700"/>
            <a:ext cx="257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Latência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DDCFE2-85C1-45E1-8D63-6E892046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API sem estado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414F7A-24D7-4DD9-A8FA-D0D4BEB5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38700"/>
            <a:ext cx="247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p95 local 4,22 ms</a:t>
            </a:r>
          </a:p>
        </p:txBody>
      </p:sp>
    </p:spTree>
    <p:extLst>
      <p:ext uri="{BB962C8B-B14F-4D97-AF65-F5344CB8AC3E}">
        <p14:creationId xmlns:p14="http://schemas.microsoft.com/office/powerpoint/2010/main" val="5633079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33AC8-0C6D-4C3D-B948-91374D870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3DD73-749D-4E7F-9947-3BAF7F25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Confiabilidade segurança e observabilidade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68420-5A49-4592-8A5A-110C1466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3C8D46-08EA-439B-AD77-E70A81AA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Confiabilidade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F93639-6D62-4B1A-A2F3-45BF91E0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 e inbox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Idempotency Key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Fila de falha e reprocessamento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A90EB7-F87B-43C9-81C5-137B595D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Segurança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F8D4CA-B758-4028-91AA-1D4D3B89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Tokens locais ou segredo público e RBAC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Validação na fronteira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Dados mínimos em logs e eventos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2A7758-88DA-42A1-9AD9-C94698BC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3811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Observabilidade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D0D95-0BA1-4CA3-9992-530077EA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Correlação ponta a ponta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Logs JSON e métricas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6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12B"/>
                </a:solidFill>
                <a:latin typeface="Arial"/>
                <a:ea typeface="Arial"/>
                <a:cs typeface="Arial"/>
              </a:rPr>
              <a:t>Health checks e auditoria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3F484-7D0D-4C96-A48A-301F3B3A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0125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Falha permanente testada após três tentativas e reprocessamento auditado</a:t>
            </a:r>
          </a:p>
        </p:txBody>
      </p:sp>
    </p:spTree>
    <p:extLst>
      <p:ext uri="{BB962C8B-B14F-4D97-AF65-F5344CB8AC3E}">
        <p14:creationId xmlns:p14="http://schemas.microsoft.com/office/powerpoint/2010/main" val="98102695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053730-ED0D-430F-BC95-FA1C36F4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93B760-AE78-4BA1-9191-869B3FD2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Escalabilidade manutenção e evolução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0A3FE-3F3A-495A-86EC-0ABDC747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1C671-1673-4989-8ED6-DAC6A91E3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Escalabilidade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DC70E-350E-4706-8498-98AD05E1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Réplicas da API sem estado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Consumidores idempotentes por fila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Extração só com métricas e ADR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2B702-AF60-4609-8BFE-21D6A2CC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Manutenção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407D8-B5D0-40C4-8421-7F469F6F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Mudança no contexto proprietário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Novos sistemas por adaptadores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Testes de contrato e de fronteira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D5745-700B-426E-AC04-C80433A7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333500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Evolução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A2482-44E8-462F-909B-8A6178A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905000"/>
            <a:ext cx="3429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Contratos aditivos; quebra cria v2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Migrações aditivas (ADR-002)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575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17212B"/>
                </a:solidFill>
                <a:latin typeface="Arial"/>
                <a:ea typeface="Arial"/>
                <a:cs typeface="Arial"/>
              </a:rPr>
              <a:t>Atualização gradual por versão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76D30E-6BF1-4A03-8DE0-7D8280D7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4350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Viabilidade: um implantável, componentes gratuitos e equipe júnior; custos reais a levantar</a:t>
            </a:r>
          </a:p>
        </p:txBody>
      </p:sp>
    </p:spTree>
    <p:extLst>
      <p:ext uri="{BB962C8B-B14F-4D97-AF65-F5344CB8AC3E}">
        <p14:creationId xmlns:p14="http://schemas.microsoft.com/office/powerpoint/2010/main" val="213275443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7705D-A972-44AF-B7B7-9ABF5CF19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C5062-FBE7-4513-B665-CBE126FB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Demonstração e resultados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A507D2-37F5-472C-A281-5C32CEB2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C9F6E-0009-49F0-BF7F-4BC28342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381125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211 testes aprovados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304C4A-D156-48DC-84FB-5A939D26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81125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defPPr>
            <a:lvl1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1pPr>
            <a:lvl2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2pPr>
            <a:lvl3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3pPr>
            <a:lvl4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4pPr>
            <a:lvl5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5pPr>
            <a:lvl6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6pPr>
            <a:lvl7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7pPr>
            <a:lvl8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8pPr>
            <a:lvl9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E7D5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E7D5B"/>
                </a:solidFill>
                <a:latin typeface="Arial"/>
                <a:ea typeface="Arial"/>
                <a:cs typeface="Arial"/>
              </a:rPr>
              <a:t>p95  4,22 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3789A5-D973-4441-9DAD-61441710F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9144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F1 cria rascunho sem recadastro: 20 de 20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F2 cria uma cobrança e uma preparação de retirada: 14 de 14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F3 registra SLA, resolve e conclui o processo: 15 de 15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Falha controlada preserva e reconcilia o chamado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95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950">
                <a:solidFill>
                  <a:srgbClr val="17212B"/>
                </a:solidFill>
                <a:latin typeface="Arial"/>
                <a:ea typeface="Arial"/>
                <a:cs typeface="Arial"/>
              </a:rPr>
              <a:t>Rastreabilidade reúne auditoria e eventos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E0B12-AF28-4C6C-9463-F5B562F14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Premissas do AS IS seguem para validação com a organização</a:t>
            </a:r>
          </a:p>
        </p:txBody>
      </p:sp>
    </p:spTree>
    <p:extLst>
      <p:ext uri="{BB962C8B-B14F-4D97-AF65-F5344CB8AC3E}">
        <p14:creationId xmlns:p14="http://schemas.microsoft.com/office/powerpoint/2010/main" val="6725595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A59B64-499B-47A0-83BD-5292DB25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7C8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3F30C-44DB-4690-AE4C-FA950D9F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7365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65D"/>
                </a:solidFill>
                <a:latin typeface="Arial"/>
                <a:ea typeface="Arial"/>
                <a:cs typeface="Arial"/>
              </a:rPr>
              <a:t>Conclusões e próximos passos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8CA92A-ED5C-44F2-9CB5-6D153DA1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defPPr>
            <a:lvl1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1pPr>
            <a:lvl2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2pPr>
            <a:lvl3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3pPr>
            <a:lvl4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4pPr>
            <a:lvl5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5pPr>
            <a:lvl6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6pPr>
            <a:lvl7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7pPr>
            <a:lvl8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8pPr>
            <a:lvl9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00">
                <a:solidFill>
                  <a:srgbClr val="657786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657786"/>
                </a:solidFill>
                <a:latin typeface="Arial"/>
                <a:ea typeface="Arial"/>
                <a:cs typeface="Arial"/>
              </a:rPr>
              <a:t>Projeto Aplicado Cenário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3A488-C1D3-4FA1-9761-D940F3878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Conclusões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515946-BA38-4725-96CC-E112DBC5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47875"/>
            <a:ext cx="4953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 arquitetura integrou os três fluxos obrigatórios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Reservas e contratos e fronteiras permitem evolução incremental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Outbox, inbox e correlação tornam falhas recuperáveis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1AC050-8E27-4800-9006-D5ABCB9F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81125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defPPr>
            <a:lvl1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1pPr>
            <a:lvl2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2pPr>
            <a:lvl3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3pPr>
            <a:lvl4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4pPr>
            <a:lvl5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5pPr>
            <a:lvl6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6pPr>
            <a:lvl7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7pPr>
            <a:lvl8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8pPr>
            <a:lvl9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2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27C83"/>
                </a:solidFill>
                <a:latin typeface="Arial"/>
                <a:ea typeface="Arial"/>
                <a:cs typeface="Arial"/>
              </a:rPr>
              <a:t>Limites e evolução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21D06-8B51-41EE-B4FD-F2DE7C8C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47875"/>
            <a:ext cx="47625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Validar premissas e interfaces do AS IS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Publicar e testar a demo gratuita com dados sintéticos</a:t>
            </a:r>
          </a:p>
          <a:p xmlns:a="http://schemas.openxmlformats.org/drawingml/2006/main">
            <a:pPr marL="254000" indent="-127000">
              <a:spcAft>
                <a:spcPts val="1000"/>
              </a:spcAft>
              <a:buChar char="•"/>
              <a:defRPr sz="180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12B"/>
                </a:solidFill>
                <a:latin typeface="Arial"/>
                <a:ea typeface="Arial"/>
                <a:cs typeface="Arial"/>
              </a:rPr>
              <a:t>Adicionar identidade individual e agendador de vencimentos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327035-BD1B-4456-B7EF-80AC1E387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91125"/>
            <a:ext cx="904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C65D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C65D3A"/>
                </a:solidFill>
                <a:latin typeface="Arial"/>
                <a:ea typeface="Arial"/>
                <a:cs typeface="Arial"/>
              </a:rPr>
              <a:t>Próxima ação: validar a solução com dados, volumes e responsáveis reais</a:t>
            </a:r>
          </a:p>
        </p:txBody>
      </p:sp>
    </p:spTree>
    <p:extLst>
      <p:ext uri="{BB962C8B-B14F-4D97-AF65-F5344CB8AC3E}">
        <p14:creationId xmlns:p14="http://schemas.microsoft.com/office/powerpoint/2010/main" val="1024749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2026-10-17T14:33:51.1170000Z</dcterms:created>
  <dcterms:modified xsi:type="dcterms:W3CDTF">2026-10-17T14:33:51.1170000Z</dcterms:modified>
</coreProperties>
</file>