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87b295985a497f" /><Relationship Type="http://schemas.openxmlformats.org/officeDocument/2006/relationships/extended-properties" Target="/docProps/app.xml" Id="Rfb2e5a9288d04459" /><Relationship Type="http://schemas.openxmlformats.org/officeDocument/2006/relationships/officeDocument" Target="/ppt/presentation.xml" Id="Rb86e4d349b8c43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1158fea8ef483c"/>
  </p:sldMasterIdLst>
  <p:notesMasterIdLst>
    <p:notesMasterId xmlns:r="http://schemas.openxmlformats.org/officeDocument/2006/relationships" r:id="R5367f4dd3df14d4a"/>
  </p:notesMasterIdLst>
  <p:sldIdLst>
    <p:sldId xmlns:r="http://schemas.openxmlformats.org/officeDocument/2006/relationships" id="256" r:id="R566469cf66584c9a"/>
    <p:sldId xmlns:r="http://schemas.openxmlformats.org/officeDocument/2006/relationships" id="257" r:id="Rb810065a080b4ccd"/>
    <p:sldId xmlns:r="http://schemas.openxmlformats.org/officeDocument/2006/relationships" id="258" r:id="Rd69bee85e6444565"/>
    <p:sldId xmlns:r="http://schemas.openxmlformats.org/officeDocument/2006/relationships" id="259" r:id="R6802f6c557d748e5"/>
    <p:sldId xmlns:r="http://schemas.openxmlformats.org/officeDocument/2006/relationships" id="260" r:id="R600c0856ee624af4"/>
    <p:sldId xmlns:r="http://schemas.openxmlformats.org/officeDocument/2006/relationships" id="261" r:id="R5c1076a1e30d4165"/>
    <p:sldId xmlns:r="http://schemas.openxmlformats.org/officeDocument/2006/relationships" id="262" r:id="R6d2d7b7a8dd94392"/>
    <p:sldId xmlns:r="http://schemas.openxmlformats.org/officeDocument/2006/relationships" id="263" r:id="R6fd1a1555291485c"/>
    <p:sldId xmlns:r="http://schemas.openxmlformats.org/officeDocument/2006/relationships" id="264" r:id="Ra0897982c1ee4259"/>
    <p:sldId xmlns:r="http://schemas.openxmlformats.org/officeDocument/2006/relationships" id="265" r:id="Rd8088677689e4703"/>
    <p:sldId xmlns:r="http://schemas.openxmlformats.org/officeDocument/2006/relationships" id="266" r:id="R26e4208e61274c36"/>
    <p:sldId xmlns:r="http://schemas.openxmlformats.org/officeDocument/2006/relationships" id="267" r:id="R74f01b4d9c4d4eba"/>
    <p:sldId xmlns:r="http://schemas.openxmlformats.org/officeDocument/2006/relationships" id="268" r:id="Rf49b0efbdc204a1f"/>
    <p:sldId xmlns:r="http://schemas.openxmlformats.org/officeDocument/2006/relationships" id="269" r:id="Rc0d7e8180f4f41d5"/>
    <p:sldId xmlns:r="http://schemas.openxmlformats.org/officeDocument/2006/relationships" id="270" r:id="Raf881635198f4112"/>
    <p:sldId xmlns:r="http://schemas.openxmlformats.org/officeDocument/2006/relationships" id="271" r:id="Re43eb0c434e44aa1"/>
    <p:sldId xmlns:r="http://schemas.openxmlformats.org/officeDocument/2006/relationships" id="272" r:id="R10ed9c71453c4df0"/>
    <p:sldId xmlns:r="http://schemas.openxmlformats.org/officeDocument/2006/relationships" id="273" r:id="Reb180658b99f4a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0eb6f0717d4258" /><Relationship Type="http://schemas.openxmlformats.org/officeDocument/2006/relationships/slideMaster" Target="/ppt/slideMasters/slideMaster1.xml" Id="Rd41158fea8ef483c" /><Relationship Type="http://schemas.openxmlformats.org/officeDocument/2006/relationships/notesMaster" Target="/ppt/notesMasters/notesMaster1.xml" Id="R5367f4dd3df14d4a" /><Relationship Type="http://schemas.openxmlformats.org/officeDocument/2006/relationships/presProps" Target="/ppt/presProps.xml" Id="Rb8b6e223123a427e" /><Relationship Type="http://schemas.openxmlformats.org/officeDocument/2006/relationships/tableStyles" Target="/ppt/tableStyles.xml" Id="R969ca9a902c84f85" /><Relationship Type="http://schemas.openxmlformats.org/officeDocument/2006/relationships/slide" Target="/ppt/slides/slide1.xml" Id="R566469cf66584c9a" /><Relationship Type="http://schemas.openxmlformats.org/officeDocument/2006/relationships/slide" Target="/ppt/slides/slide2.xml" Id="Rb810065a080b4ccd" /><Relationship Type="http://schemas.openxmlformats.org/officeDocument/2006/relationships/slide" Target="/ppt/slides/slide3.xml" Id="Rd69bee85e6444565" /><Relationship Type="http://schemas.openxmlformats.org/officeDocument/2006/relationships/slide" Target="/ppt/slides/slide4.xml" Id="R6802f6c557d748e5" /><Relationship Type="http://schemas.openxmlformats.org/officeDocument/2006/relationships/slide" Target="/ppt/slides/slide5.xml" Id="R600c0856ee624af4" /><Relationship Type="http://schemas.openxmlformats.org/officeDocument/2006/relationships/slide" Target="/ppt/slides/slide6.xml" Id="R5c1076a1e30d4165" /><Relationship Type="http://schemas.openxmlformats.org/officeDocument/2006/relationships/slide" Target="/ppt/slides/slide7.xml" Id="R6d2d7b7a8dd94392" /><Relationship Type="http://schemas.openxmlformats.org/officeDocument/2006/relationships/slide" Target="/ppt/slides/slide8.xml" Id="R6fd1a1555291485c" /><Relationship Type="http://schemas.openxmlformats.org/officeDocument/2006/relationships/slide" Target="/ppt/slides/slide9.xml" Id="Ra0897982c1ee4259" /><Relationship Type="http://schemas.openxmlformats.org/officeDocument/2006/relationships/slide" Target="/ppt/slides/slide10.xml" Id="Rd8088677689e4703" /><Relationship Type="http://schemas.openxmlformats.org/officeDocument/2006/relationships/slide" Target="/ppt/slides/slide11.xml" Id="R26e4208e61274c36" /><Relationship Type="http://schemas.openxmlformats.org/officeDocument/2006/relationships/slide" Target="/ppt/slides/slide12.xml" Id="R74f01b4d9c4d4eba" /><Relationship Type="http://schemas.openxmlformats.org/officeDocument/2006/relationships/slide" Target="/ppt/slides/slide13.xml" Id="Rf49b0efbdc204a1f" /><Relationship Type="http://schemas.openxmlformats.org/officeDocument/2006/relationships/slide" Target="/ppt/slides/slide14.xml" Id="Rc0d7e8180f4f41d5" /><Relationship Type="http://schemas.openxmlformats.org/officeDocument/2006/relationships/slide" Target="/ppt/slides/slide15.xml" Id="Raf881635198f4112" /><Relationship Type="http://schemas.openxmlformats.org/officeDocument/2006/relationships/slide" Target="/ppt/slides/slide16.xml" Id="Re43eb0c434e44aa1" /><Relationship Type="http://schemas.openxmlformats.org/officeDocument/2006/relationships/slide" Target="/ppt/slides/slide17.xml" Id="R10ed9c71453c4df0" /><Relationship Type="http://schemas.openxmlformats.org/officeDocument/2006/relationships/slide" Target="/ppt/slides/slide18.xml" Id="Reb180658b99f4a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8ffa80840646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7e570316ae4330" /><Relationship Type="http://schemas.openxmlformats.org/officeDocument/2006/relationships/notesMaster" Target="/ppt/notesMasters/notesMaster1.xml" Id="R2541467fff8648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446b1191aa46bb" /><Relationship Type="http://schemas.openxmlformats.org/officeDocument/2006/relationships/notesMaster" Target="/ppt/notesMasters/notesMaster1.xml" Id="R3d8cb24cf12f4f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2807ac8e8443b8" /><Relationship Type="http://schemas.openxmlformats.org/officeDocument/2006/relationships/notesMaster" Target="/ppt/notesMasters/notesMaster1.xml" Id="Rb140b12b2d4249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84113c4e45499d" /><Relationship Type="http://schemas.openxmlformats.org/officeDocument/2006/relationships/notesMaster" Target="/ppt/notesMasters/notesMaster1.xml" Id="R65be2e445a9845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8e6aee4cec4807" /><Relationship Type="http://schemas.openxmlformats.org/officeDocument/2006/relationships/notesMaster" Target="/ppt/notesMasters/notesMaster1.xml" Id="R76f2d79673f649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f207e5a9af41e6" /><Relationship Type="http://schemas.openxmlformats.org/officeDocument/2006/relationships/notesMaster" Target="/ppt/notesMasters/notesMaster1.xml" Id="R02af79bd69ec4c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1a2fce45bf4cd3" /><Relationship Type="http://schemas.openxmlformats.org/officeDocument/2006/relationships/notesMaster" Target="/ppt/notesMasters/notesMaster1.xml" Id="R8e4cf938a7d94e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97266bc2c24af0" /><Relationship Type="http://schemas.openxmlformats.org/officeDocument/2006/relationships/notesMaster" Target="/ppt/notesMasters/notesMaster1.xml" Id="R1c9eaabe33264e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6ff8518fdd487a" /><Relationship Type="http://schemas.openxmlformats.org/officeDocument/2006/relationships/notesMaster" Target="/ppt/notesMasters/notesMaster1.xml" Id="Rb041081cfb9c463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192cca85854409" /><Relationship Type="http://schemas.openxmlformats.org/officeDocument/2006/relationships/notesMaster" Target="/ppt/notesMasters/notesMaster1.xml" Id="R215d2ef591fa4e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f3ea4b3bed4cdc" /><Relationship Type="http://schemas.openxmlformats.org/officeDocument/2006/relationships/notesMaster" Target="/ppt/notesMasters/notesMaster1.xml" Id="Rb807748f713143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a1ff8050ac4eae" /><Relationship Type="http://schemas.openxmlformats.org/officeDocument/2006/relationships/notesMaster" Target="/ppt/notesMasters/notesMaster1.xml" Id="Rce29a653c83c49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da4f9ce0c78461c" /><Relationship Type="http://schemas.openxmlformats.org/officeDocument/2006/relationships/notesMaster" Target="/ppt/notesMasters/notesMaster1.xml" Id="R9e34653a9e8e4b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aa55ae32e543c7" /><Relationship Type="http://schemas.openxmlformats.org/officeDocument/2006/relationships/notesMaster" Target="/ppt/notesMasters/notesMaster1.xml" Id="R1e6202a6582b4fd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5658f58f2944ad" /><Relationship Type="http://schemas.openxmlformats.org/officeDocument/2006/relationships/notesMaster" Target="/ppt/notesMasters/notesMaster1.xml" Id="R498faddb887e434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9a41974b85c42f5" /><Relationship Type="http://schemas.openxmlformats.org/officeDocument/2006/relationships/notesMaster" Target="/ppt/notesMasters/notesMaster1.xml" Id="R5ca9817e711c42f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b9586e47de2454f" /><Relationship Type="http://schemas.openxmlformats.org/officeDocument/2006/relationships/notesMaster" Target="/ppt/notesMasters/notesMaster1.xml" Id="R32fdeab41a8f484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dfe09516982479e" /><Relationship Type="http://schemas.openxmlformats.org/officeDocument/2006/relationships/notesMaster" Target="/ppt/notesMasters/notesMaster1.xml" Id="Rb722433a80b248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Guia.pdf, enunciado acadêmico ArchCorp, 2026, 13 páginas. Cenário 4 aplicado a uma locadora fictícia inspirada na Localiza, com dados sintéticos. Referência técnica: versão 534eab2e77363318fedda77509aca0e0031f4e3a, que parte da integração do PR #75 (https://github.com/Roger-Quinelato/projetoAplicado7/pull/75) e inclui as correções do PR #78. Marcos previstos conforme orientação da entrega. Autoria: Roger Quinelato — backend, produto e negócio; Raquel Pereira — frontend e levantamento de requisitos. Não há declaração de aceite docente.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relatório, seção 4.4, e docs/arquitetura/AS_IS.md. Categorias são o papel típico de cada sistema; produtos reais não foram informados.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AGENTS.md,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docs/api/openapi.yaml, docs/events/asyncapi.yaml e docs/EXEMPLOS_API.md.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scripts/demo_f1.py e evidência histórica consolidada em docs/EVIDENCIAS_VALIDACAO.md (20/10/2026). Não reexecutado em 28/10. ADR-006 permanece Proposto, aguardando aceite do responsável. A chamada no mesmo processo não tem interrupção por timeout de rede.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scripts/demo_f2.py e evidência histórica consolidada em docs/EVIDENCIAS_VALIDACAO.md (20/10/2026). Não reexecutado em 28/10. O despachante invoca os consumidores internos; RabbitMQ recebe uma cópia opcional e não executa esses consumidores.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F3: quando o processo ainda não existe, resolução e reconciliação levantam uma falha recuperável. O dispatcher não confirma a inbox e mantém a tentativa disponível; se atingir FAILED, reprocessar explicitamente após recuperar a abertura. Regressões em tests/test_regressoes_fechamento.py cobrem falha temporária, limite de tentativas e reprocessamento, sem duplicação. A resolução preserva estados finais e usa o agregado das tarefas. Não há agendador: o despacho é explícito.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(nove atributos com necessidade, risco, estratégia, resultado e evidência) e relatório, seção 4.8. Desempenho: 29/10/2026, SQLite local, 60 clientes e 100 amostras por consulta em 10 consultas de negócio, versão 534eab2. Demonstração local; sem publicação pública (ADR-007).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 Correções de segurança: main f1669d7, PR #75, 25/10/2026, https://github.com/Roger-Quinelato/projetoAplicado7/pull/75, registro local do commit. Credencial com caracteres não ASCII comparada em bytes, exceção inesperada registra só errorType. FAILED é estado persistido da aplicação, não fila de erro RabbitMQ. Sem OIDC e sem tracing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(sete perguntas do enunciado) e docs/VISAO_NEGOCIO.md. Indicadores: tempo de ativação, recadastro, SLA incorreto, falhas por integração e tempo de diagnóstico.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output/evidencias/evidencias.json (tools/consolidar_evidencias.py), gerado em 29/10/2026 sobre a versão 534eab2; docs/EVIDENCIAS_VALIDACAO.md. O relatório operacional (scripts/relatorio_operacional.py) lê GET /api/v1/integration/insights, /metrics e os resumos e propõe uma decisão por indicador. No ensaio, o funil mostrou zero faturas pagas porque os roteiros não exercitam pagamento: a leitura orienta o que demonstrar. Agentes de revisão FDE (cliente e Guia) e QA (portão e código) trabalham somente leitura; a decisão fica com testes, CI e responsável. Demonstração local, sem publicação pública (ADR-007).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Correções de fechamento: F3 não confirma resolução/reconciliação sem processo; eventos mantêm retentativa e reprocessamento explícito. Encerramento do contrato cancela tarefas pendentes e deriva o estado agregado, preservando tarefas finais. Cancelamento financeiro usa a data UTC e o estado efetivo da consulta; vencida recebe 409. As correções não alteram registros antigos já consumidos. Autoria declarada: Roger Quinelato — backend, produto e negócio; Raquel Pereira — frontend e levantamento de requisitos. Permanecem ensaio e aceite docente; a demonstração é local e a publicação pública é evolução (ADR-007). OIDC, tracing distribuído e consumo pelo broker são evoluções.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996815fcae4e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bedee2388432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9a8521ba2242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76349c86c418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020b8b32d74fe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b119c9063148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A102E5-F89D-4632-A19A-5A3850669A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F6EA76C-C82F-4CC2-9670-4403FCA916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AD36F8B-7093-4426-9EE1-48C1A7EFC3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C89FDD-2725-47C4-9A99-C449438B4A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A134C65-B850-42E4-9B3B-8FAFB8847D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5B52A49-DD2E-417E-81E5-0E8DC5986D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72D5F21-CB76-4B97-A44C-3E9B8C886E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10E4041-F794-47C5-A7D6-1A8D161E54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EE5A09-02DF-49A0-83DE-A2E82FAE12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A63F8A7-3B58-4A03-A040-C1D829A8E9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6bf40f193843c9" /><Relationship Type="http://schemas.openxmlformats.org/officeDocument/2006/relationships/slideLayout" Target="/ppt/slideLayouts/slideLayout1.xml" Id="Rffa414c81f9144e5" /><Relationship Type="http://schemas.openxmlformats.org/officeDocument/2006/relationships/slideLayout" Target="/ppt/slideLayouts/slideLayout2.xml" Id="R7c90641b895e41aa" /><Relationship Type="http://schemas.openxmlformats.org/officeDocument/2006/relationships/slideLayout" Target="/ppt/slideLayouts/slideLayout3.xml" Id="R5f95b560205c4b28" /><Relationship Type="http://schemas.openxmlformats.org/officeDocument/2006/relationships/slideLayout" Target="/ppt/slideLayouts/slideLayout4.xml" Id="R93e37e7dc6de4a3f" /><Relationship Type="http://schemas.openxmlformats.org/officeDocument/2006/relationships/slideLayout" Target="/ppt/slideLayouts/slideLayout5.xml" Id="R902f3b9f3e8c45d4" /><Relationship Type="http://schemas.openxmlformats.org/officeDocument/2006/relationships/slideLayout" Target="/ppt/slideLayouts/slideLayout6.xml" Id="R0bac7e476ec346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a414c81f9144e5"/>
    <p:sldLayoutId xmlns:r="http://schemas.openxmlformats.org/officeDocument/2006/relationships" id="2147483650" r:id="R7c90641b895e41aa"/>
    <p:sldLayoutId xmlns:r="http://schemas.openxmlformats.org/officeDocument/2006/relationships" id="2147483651" r:id="R5f95b560205c4b28"/>
    <p:sldLayoutId xmlns:r="http://schemas.openxmlformats.org/officeDocument/2006/relationships" id="2147483652" r:id="R93e37e7dc6de4a3f"/>
    <p:sldLayoutId xmlns:r="http://schemas.openxmlformats.org/officeDocument/2006/relationships" id="2147483653" r:id="R902f3b9f3e8c45d4"/>
    <p:sldLayoutId xmlns:r="http://schemas.openxmlformats.org/officeDocument/2006/relationships" id="2147483654" r:id="R0bac7e476ec346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d553ede0284472" /><Relationship Type="http://schemas.openxmlformats.org/officeDocument/2006/relationships/notesSlide" Target="/ppt/notesSlides/notesSlide1.xml" Id="Rb672d2235f524f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0902771d104ab6" /><Relationship Type="http://schemas.openxmlformats.org/officeDocument/2006/relationships/notesSlide" Target="/ppt/notesSlides/notesSlide2.xml" Id="R06ae6189f02c4f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5067693c134ca1" /><Relationship Type="http://schemas.openxmlformats.org/officeDocument/2006/relationships/image" Target="/ppt/media/image.png" Id="Re349bed3316b4c27" /><Relationship Type="http://schemas.openxmlformats.org/officeDocument/2006/relationships/notesSlide" Target="/ppt/notesSlides/notesSlide3.xml" Id="Rd5a25f1e397842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e984ef709c4f10" /><Relationship Type="http://schemas.openxmlformats.org/officeDocument/2006/relationships/notesSlide" Target="/ppt/notesSlides/notesSlide4.xml" Id="R57a4db75084b4f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5df15c83a549e9" /><Relationship Type="http://schemas.openxmlformats.org/officeDocument/2006/relationships/notesSlide" Target="/ppt/notesSlides/notesSlide5.xml" Id="R783a3f10ec5543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fa28b6f6404b92" /><Relationship Type="http://schemas.openxmlformats.org/officeDocument/2006/relationships/image" Target="/ppt/media/image2.png" Id="R8689646595564467" /><Relationship Type="http://schemas.openxmlformats.org/officeDocument/2006/relationships/notesSlide" Target="/ppt/notesSlides/notesSlide6.xml" Id="R0fdb376612004b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02b8974bcc48c5" /><Relationship Type="http://schemas.openxmlformats.org/officeDocument/2006/relationships/notesSlide" Target="/ppt/notesSlides/notesSlide7.xml" Id="R8ff648cd7c6b44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1da3abbcaa4e98" /><Relationship Type="http://schemas.openxmlformats.org/officeDocument/2006/relationships/notesSlide" Target="/ppt/notesSlides/notesSlide8.xml" Id="R3cf8d5f5f60f4d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f5fd19da9c49af" /><Relationship Type="http://schemas.openxmlformats.org/officeDocument/2006/relationships/notesSlide" Target="/ppt/notesSlides/notesSlide9.xml" Id="R422f5d9d46004d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01972922ea4cea" /><Relationship Type="http://schemas.openxmlformats.org/officeDocument/2006/relationships/notesSlide" Target="/ppt/notesSlides/notesSlide10.xml" Id="R0ea99fa417174d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d104a263444ea3" /><Relationship Type="http://schemas.openxmlformats.org/officeDocument/2006/relationships/notesSlide" Target="/ppt/notesSlides/notesSlide11.xml" Id="Rc4eebb05f19f4b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51f5d245074d62" /><Relationship Type="http://schemas.openxmlformats.org/officeDocument/2006/relationships/notesSlide" Target="/ppt/notesSlides/notesSlide12.xml" Id="R0b3a462ce36240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69c2584d1c4203" /><Relationship Type="http://schemas.openxmlformats.org/officeDocument/2006/relationships/notesSlide" Target="/ppt/notesSlides/notesSlide13.xml" Id="Re7e6d3a6bed643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5784a25e5542d9" /><Relationship Type="http://schemas.openxmlformats.org/officeDocument/2006/relationships/notesSlide" Target="/ppt/notesSlides/notesSlide14.xml" Id="R0522fa50d3d648f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0cc2ac9e2e47d8" /><Relationship Type="http://schemas.openxmlformats.org/officeDocument/2006/relationships/notesSlide" Target="/ppt/notesSlides/notesSlide15.xml" Id="Rf699fb3c3285483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3f393993df46de" /><Relationship Type="http://schemas.openxmlformats.org/officeDocument/2006/relationships/notesSlide" Target="/ppt/notesSlides/notesSlide16.xml" Id="R8c0abb6ed5934f5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38dc48a6df49a0" /><Relationship Type="http://schemas.openxmlformats.org/officeDocument/2006/relationships/notesSlide" Target="/ppt/notesSlides/notesSlide17.xml" Id="R58c1be8b96da4e7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82fe7fcb444b3f" /><Relationship Type="http://schemas.openxmlformats.org/officeDocument/2006/relationships/notesSlide" Target="/ppt/notesSlides/notesSlide18.xml" Id="R4868a9d41ba245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902CE-B7DD-48CE-8FF0-9F4715E2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D16174-470A-4163-B158-9EC05DBB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D39C5-7B7F-4672-80C8-21E3F59D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75279-7608-49B8-8A1B-076AC60F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911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Roger Quinelato — backend, produto e negócio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Raquel Pereira — frontend e levantamento de requisitos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Versão 29/10/2026  ·  Versão do código 534eab2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Entrega pronta 09/11/2026  ·  Apresentação 23/11/2026 (previstas)</a:t>
            </a:r>
          </a:p>
        </p:txBody>
      </p:sp>
    </p:spTree>
    <p:extLst>
      <p:ext uri="{BB962C8B-B14F-4D97-AF65-F5344CB8AC3E}">
        <p14:creationId xmlns:p14="http://schemas.microsoft.com/office/powerpoint/2010/main" val="1268911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41224-983B-4BBB-A9A3-04BCB22A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54449-29F2-45C4-951F-943E627F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4072B-C137-46CD-802B-55A40BB1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B424F9-B0D6-4A98-9A96-6CF15218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EA013-3CDC-4ADB-8C9F-C883ADFF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E59113-472F-45CB-8314-7DBEEC3C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427EB-5556-4A38-9938-9C0BAB59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098389-9ABD-4901-88A4-2342FDEE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ADE84-7180-4653-95C5-A2C1F190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10349030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22A5E-BCB4-4254-94B7-63BB9FEE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2EF821-79E8-459B-BDDE-5F8E5A3A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2F15E-A871-4F7D-B3DF-AF4998C6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A9AB72-B665-43DE-AC87-D1E4711A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430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8ED191-CCDF-430C-B7ED-EF0A54DC91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49bed3316b4c27"/>
          <a:stretch xmlns:a="http://schemas.openxmlformats.org/drawingml/2006/main"/>
        </p:blipFill>
        <p:spPr>
          <a:xfrm xmlns:a="http://schemas.openxmlformats.org/drawingml/2006/main">
            <a:off x="666750" y="1676992"/>
            <a:ext cx="10858500" cy="240864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606D81-3CE1-49B4-A21A-C198AEDF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981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e lançamentos manuais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8210547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22ADD-ED8E-4A65-A7F1-9CA054D6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A11FE-8C13-4922-96AA-BA9F2DEB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DCE08-941E-4EE4-BBB4-EA3C3471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439BF-4C20-4C3F-A32D-C70D8103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preparação de retirada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grupo de veículo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F18A9-8199-4F4D-82E8-5FA233CF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DA615-AC98-4FEC-B04F-98599B30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21020730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B0367-E3A3-4831-8DFE-B1E529B3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A75A63-C0D9-4ADF-865F-B24D3E2F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91377-B43B-44EF-840E-82586917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25FE3-2F9F-47EF-B9BA-150E61ED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7CD48-8089-42B1-95DC-62C6556E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AA1B4-1E1D-437E-9FF5-DAD58F10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11800276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920C8B-4422-484C-B47D-6C4A6ABF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5A3E9-5638-4F09-A33C-83C7B2E9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433658-D798-4567-BA52-6AFC36EC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6EF58-1181-4E42-850D-7C17668F7D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89646595564467"/>
          <a:stretch xmlns:a="http://schemas.openxmlformats.org/drawingml/2006/main"/>
        </p:blipFill>
        <p:spPr>
          <a:xfrm xmlns:a="http://schemas.openxmlformats.org/drawingml/2006/main">
            <a:off x="1212891" y="1095375"/>
            <a:ext cx="3384469" cy="5191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32E61-2C0B-478F-8F34-ADB254AB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28750"/>
            <a:ext cx="5715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contextos de negócio com dados próprios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CustomerReader e ContractEntitlementPort ligam contextos por portas públicas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dispatcher e inbox entregam eventos sem duplicar efeitos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Auditoria e correlationId atravessam toda a operação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255A9-62CD-45FA-871F-1AFCB06A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804402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412831-AC0C-4A24-9200-17852F6C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14475-A30C-4E08-A6B0-09DF8511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Sistemas corporativos envolvidos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67CDE-C12C-4612-B59E-BC9CD170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39C0B-ADBC-4836-93A9-DE32EE18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F44BB-016A-45CB-A470-7EB57ECE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45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484D3E-EC7F-4865-A5B7-EFCB905B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5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do cliente; fornece dados a 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87124-3088-4030-BE15-3439FD75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DE886-58AC-4ADA-9D54-C1709923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9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contratos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8BEF1-7934-4BB1-AA35-CA5D6027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9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e SLA; publica eventos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8B8053-AF04-4DA0-984B-63D3E4E2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4FAF4-5697-48E8-A951-71046CA6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62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Módulo financeiro de ERP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1936F-0F3A-45E9-8CFC-5DF0A1A8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62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Faturas e pagamentos por eventos de contrato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D74BFC-72B7-4F99-ADC9-748D432E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43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24h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8F6A9-62E8-441F-B379-C63A4FCF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14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atendimento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85A071-E483-4912-B414-ED891560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14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com SLA consultado em Contracts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E12C4F-C5F2-41BA-941F-B72B722B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Gestão de processos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9D0F6-13A3-4E73-946E-C628C8AD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BPM /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447EA8-1598-4EEE-869E-48E5E879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6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Retirada e resolução iniciadas por eventos</a:t>
            </a:r>
          </a:p>
        </p:txBody>
      </p:sp>
    </p:spTree>
    <p:extLst>
      <p:ext uri="{BB962C8B-B14F-4D97-AF65-F5344CB8AC3E}">
        <p14:creationId xmlns:p14="http://schemas.microsoft.com/office/powerpoint/2010/main" val="1932469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95D97F-B47D-4505-858F-F0BB4898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941C2-0773-4757-8D91-2A5BD83A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89CF9-7CE6-44F9-B82B-B53A3D07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64AF7-AAEE-40CE-B3DD-2AE9D145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B1E99B-8C22-4893-9B23-FF884331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consentimento, perfil de locação e oportunidade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68076B-25B3-4BF8-80A0-D07F85F9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6C2578-58F2-4B17-A6E7-9DC9B384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de locação, grupo de veículo, vigência, proteções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3546D-8126-481F-8341-2022EA79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207949-A9D9-415D-BFCB-49374A91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Pré-autorização, cobrança, fatura, pagamento, caução, multa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193D5-AC86-475A-8F6D-00100333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D2CC4-7983-4D27-AE3E-E6A2D820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assistência,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CD185-EF48-481F-BBDD-651A9C8C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02BF0-D39F-4D07-99A0-EF974BFC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 operacional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8AC2F-D5E5-4B8C-AAD2-003B0895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3C6292-68A9-4C71-B578-D12D99BD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360847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BF175-CF12-4BFE-9F5F-AD8C6793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31569-FD31-4872-9E92-310B8E71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APIs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D1F41-3051-49B8-9413-FF185D65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35E0C-BC24-43AF-9FB1-935DEB24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7239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/api/v1/contracts/reservations/{id}/draft  ·  F1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/api/v1/contracts/{id}/activate  ·  F2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/api/v1/support/tickets  ·  F3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/api/v1/integration/outbox/dispatch  ·  entrega de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GET /api/v1/operations/{correlationId}  ·  trilha consolidada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7C994-4A95-4882-99D3-6CC8CFC3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OpenAPI 3.1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Swagger em /docs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CB099-FCDF-4054-972E-1530F3C0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AsyncAPI 3.0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6 eventos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4567C-9DDA-42FD-9DFD-BB1815D7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problem+json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code e correlationId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6B405F-0AEC-4B7A-8BF4-FA24839B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Comandos repetíveis aceitam Idempotency-Key</a:t>
            </a:r>
          </a:p>
        </p:txBody>
      </p:sp>
    </p:spTree>
    <p:extLst>
      <p:ext uri="{BB962C8B-B14F-4D97-AF65-F5344CB8AC3E}">
        <p14:creationId xmlns:p14="http://schemas.microsoft.com/office/powerpoint/2010/main" val="8348301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2DDB7-7237-46B3-A268-B8B42B08CCC9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80D9D7-70E9-43BC-96AF-A5CBAC46165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891469-9D79-4944-BD93-7A673D4A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F4DF1-A929-4A33-8616-10E2DFD6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reserva/contrato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DAC8E6-68F3-44D5-9A06-AA51DA5D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BD2622-613A-4195-965B-45C561BB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1CFF4-ED2F-4241-8BCB-DAC985BD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3609B4-883B-4CF4-99B5-48DD70F5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2D84A-7F76-4007-841A-7806ED34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005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C505-313C-4065-A185-F7A2488E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6725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CRM fora do ar: retentativa limitada com jitter e 503 sem efeito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026431-62B0-42FC-B140-596D9F75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F1 histórico: 20/20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20152593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54A235-5341-416E-89EB-93072DC01E8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AEAEE-97EA-448F-970F-F071032CDF4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90F9E-F5CA-4A2D-A3C3-2BAC1115932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CBECE-EB96-4143-8E37-B0F38693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3A45E-F6AD-4F59-96C1-32B7AC0A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preparação de retirada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91D903-8249-4DFB-8F22-5786C088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53BC4-CE36-4A66-87E9-272D0A7D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130336-CB93-4DDB-BFE0-8577D810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99862-92D3-4D23-B9E4-C5E5962F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37EC9-5A69-40A6-B8BC-5DFF3B1D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preparação de retirada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E2AA3-4CA6-4FAA-8CEA-08532C05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12780-4105-409A-ABA4-18F02EE6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245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F2 histórico: 14/14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667982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28531-5D41-406A-B694-5CC36FAAAF1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1A862-6184-4970-9EA2-6568322143CE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3E442D-D6D2-439C-8B50-81388F209CD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C04D5-20BC-4BF7-8E77-877F95C1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649F3A-C7DB-4874-88D9-7EA19CD4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D795F-0C1F-4C63-B545-14E6E2FF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AA1E53-0B2E-4F02-B7F5-B263D69D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04933-79D3-4193-AF8C-96001203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1C448-E507-4350-833B-15C5D6FC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1637C-E787-4996-A7AB-93CBA43A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36A9A8-D16B-46FA-A17D-A19BE11C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Recuperação: resolução aguarda a abertura, sem confirmar a inbox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11D56-F9DC-4936-A7AE-171772F3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6197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F3 histórico: 15/15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16307882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10F86-7665-4445-A40F-487A785B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C85AA-98B4-459B-8726-6FCF135B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contratos técnicos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B79B4-B5D7-496F-BAFB-94D4658D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96CA7-44AD-4957-8549-CA8E8205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F48A46-8CDC-43D9-8ECD-613E785B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F69DD-5D06-4286-9756-DF220A1E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4132389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B6C7BB-A6E3-477B-A13F-73F93299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A125C-C5E9-4408-96C6-7E3212BC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Análise de qualidade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369F5-1E96-4A74-B47C-232A82FD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059CF-3824-4765-892A-82917A6F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Atributo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65027-C3D5-4A04-9154-C5E80571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906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Risco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056F4-906D-4677-BA79-159E34CD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906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Estratégia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F39EF-8F15-4A7B-B632-56EA607A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906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1EAD3-EBA5-4A16-BA00-49972D5C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02029-035B-41D3-9CCD-1FCD2398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145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errado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CBABC-008D-41A8-846D-C585EAAA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e IDs legados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034C17-7380-4FE7-BDED-2600F814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Mesma identidade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F2CD92-905A-45A9-B838-ED04C4C3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24851-6272-409E-AEB8-5F34AC8C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955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Cobrança dupla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12734C-5A80-4142-8E7F-462A8398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idempotência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9049E-16D3-4704-B802-ACE3172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Um efeito por fato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2A4CF6-8452-4C84-BB33-A97B7E64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Disponibilidade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9150F-8180-49EB-9D17-B79198A1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766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perdido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03447-5F99-4F3E-838B-09E74CB8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766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pendente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979CC4-C291-49A5-97A6-6C0A83F4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Reconciliação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D47440-523A-4CD8-8530-86A84CBA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Manutenibilidade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1FAF02-9153-419E-9E1B-2DF9DD27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Acoplamento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525301-B2ED-476F-834B-B6E55298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teste de fronteira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69C80D-2034-4ABB-9E61-DD50443C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7FE549-4C1D-4F92-AFC1-28511AB3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A067EB-9D8B-4B23-8838-725306A5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387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Latência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DABC70-2853-4521-8F68-0CDE2089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C33238-DCA7-4374-B349-D7D53520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387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máximo 21,53 ms</a:t>
            </a:r>
          </a:p>
        </p:txBody>
      </p:sp>
    </p:spTree>
    <p:extLst>
      <p:ext uri="{BB962C8B-B14F-4D97-AF65-F5344CB8AC3E}">
        <p14:creationId xmlns:p14="http://schemas.microsoft.com/office/powerpoint/2010/main" val="4059678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4851BF-B7EE-4CBE-A125-06C1FE61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F719E-8EAF-4F90-8ED2-A7A7E599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10CB1C-8BD5-41CF-B9AD-D5D8234C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89252-9834-448D-BED5-7DC6F003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0DC23-7EB3-4CEA-B1F8-EC067075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FAILED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CD34D-8C21-4AB8-B0C4-64B38689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37868-2EE3-47F1-9A6E-EC807DF7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Tokens locais ou segredo compartilhado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Credenciais comparadas em bytes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Erros sem mensagem sensível nos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F053E3-8F22-430A-8882-F4DD3B05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57E21A-DEB3-4213-9864-7B9919C6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722866-5342-40CD-9129-FF0BB902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1028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Regressões cobrem recuperação fora de ordem e estados finais.</a:t>
            </a:r>
          </a:p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Falhas permanecem recuperáveis por retentativa ou reprocessamento explícito.</a:t>
            </a:r>
          </a:p>
        </p:txBody>
      </p:sp>
    </p:spTree>
    <p:extLst>
      <p:ext uri="{BB962C8B-B14F-4D97-AF65-F5344CB8AC3E}">
        <p14:creationId xmlns:p14="http://schemas.microsoft.com/office/powerpoint/2010/main" val="18808094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9A3EFE-AC24-4FE5-8835-DB733022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FE221-5ED7-402F-9968-FBC1054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Escalabilidade manutenção e evolução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979B8-BCBD-44BF-A877-614CE952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9E378-7F0E-4D09-9F85-57800C1E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Escalabilidade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9E0E04-91FA-44E6-B685-1F36656A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Réplicas da API sem estado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Consumidores idempotentes por fila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só com métricas e ADR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1A4B3-7A3E-4472-A918-CC35E491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Manutenção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EA618-35B7-4546-99A5-C9F6DAD4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no contexto proprietário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Testes de contrato e de fronteira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53A063-E443-45D3-B820-203DE211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Evolução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BA83B-F3B8-4F65-B326-B819864C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aditivos; quebra cria v2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Migrações aditivas (ADR-002)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Atualização gradual por versão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6C1E0-F7C7-4798-BF87-B47DDED9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Viabilidade: um implantável, serviços gratuitos (não custo zero) e equipe júnior; custos reais a levantar</a:t>
            </a:r>
          </a:p>
        </p:txBody>
      </p:sp>
    </p:spTree>
    <p:extLst>
      <p:ext uri="{BB962C8B-B14F-4D97-AF65-F5344CB8AC3E}">
        <p14:creationId xmlns:p14="http://schemas.microsoft.com/office/powerpoint/2010/main" val="107667873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C5962-15CC-425B-A7A8-50D1C97E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EFFE59-3AE6-497A-89CD-AF863085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Evidências e informação operacional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2EF14-2E9F-405D-BA65-6AA2731A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3279B-3B69-4F76-8EB4-79F4F05A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Verificação da versão 534eab2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180BB-1C85-496F-B724-1303EEC3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519112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269 testes Python aprovados (14 ignorados)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19 testes da interface aprovados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F1, F2 e F3 concluídos sem falha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máximo de 21,53 ms (meta 500 ms)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FC623-ADD6-4841-816F-64582399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Dos logs à decisão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72503-F14C-40A1-AAFE-3DC54847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47875"/>
            <a:ext cx="504825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Funil F1→F2→F3 e SLA cumprido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Atraso de despacho por consumidor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Falhas, retentativas e duplicidades evitadas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e erros por código, uso por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633599-E936-401F-BFB2-2513FA2B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Números gerados das execuções, sem transcrição manual.</a:t>
            </a:r>
          </a:p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CI com PostgreSQL 16, RabbitMQ e navegador a cada PR.</a:t>
            </a:r>
          </a:p>
        </p:txBody>
      </p:sp>
    </p:spTree>
    <p:extLst>
      <p:ext uri="{BB962C8B-B14F-4D97-AF65-F5344CB8AC3E}">
        <p14:creationId xmlns:p14="http://schemas.microsoft.com/office/powerpoint/2010/main" val="21290029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7CB61-047E-457C-A0BA-C1FBE804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2BC29C-99DB-4223-8AB4-8C02BFAE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marcos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F6E1F-EC87-4D8D-A5DC-97571A93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EEF640-4F9A-4614-BCF9-F843F87C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5F430-9318-45B6-83AE-08DB737B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Os três fluxos têm evidências no protótipo acadêmico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Regressões cobrem recuperação e estados finais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43AA3-9F3C-48B3-8EEE-78CCC618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4EF9CB-D2B1-4EE9-93A2-C1E7E06E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52625"/>
            <a:ext cx="4762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F3 aguarda a abertura e permite reprocessamento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 respeita o agregado das tarefas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 vencida não aceita cancelamento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Roger Quinelato e Raquel Pereira: autoria preenchida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AA4FCE-95C8-4B90-B8F0-98846D17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43500"/>
            <a:ext cx="904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Entrega pronta prevista para 09/11/2026</a:t>
            </a:r>
          </a:p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Apresentação prevista para 23/11/2026</a:t>
            </a:r>
          </a:p>
        </p:txBody>
      </p:sp>
    </p:spTree>
    <p:extLst>
      <p:ext uri="{BB962C8B-B14F-4D97-AF65-F5344CB8AC3E}">
        <p14:creationId xmlns:p14="http://schemas.microsoft.com/office/powerpoint/2010/main" val="10183139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2026-10-29T22:13:29.2010000Z</dcterms:created>
  <dcterms:modified xsi:type="dcterms:W3CDTF">2026-10-29T22:13:29.2010000Z</dcterms:modified>
</coreProperties>
</file>