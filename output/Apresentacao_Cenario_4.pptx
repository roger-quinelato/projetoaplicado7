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96c10643ae41bd" /><Relationship Type="http://schemas.openxmlformats.org/officeDocument/2006/relationships/extended-properties" Target="/docProps/app.xml" Id="Rde2aeb1c49e546c4" /><Relationship Type="http://schemas.openxmlformats.org/officeDocument/2006/relationships/officeDocument" Target="/ppt/presentation.xml" Id="Rd7510c760bf948f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7307d456dd468c"/>
  </p:sldMasterIdLst>
  <p:notesMasterIdLst>
    <p:notesMasterId xmlns:r="http://schemas.openxmlformats.org/officeDocument/2006/relationships" r:id="Rf449ba9f92d94996"/>
  </p:notesMasterIdLst>
  <p:sldIdLst>
    <p:sldId xmlns:r="http://schemas.openxmlformats.org/officeDocument/2006/relationships" id="256" r:id="R4ab5ae0954e14746"/>
    <p:sldId xmlns:r="http://schemas.openxmlformats.org/officeDocument/2006/relationships" id="257" r:id="R35e9d005f8784510"/>
    <p:sldId xmlns:r="http://schemas.openxmlformats.org/officeDocument/2006/relationships" id="258" r:id="R501776224dd343de"/>
    <p:sldId xmlns:r="http://schemas.openxmlformats.org/officeDocument/2006/relationships" id="259" r:id="R1fc09c484ade4540"/>
    <p:sldId xmlns:r="http://schemas.openxmlformats.org/officeDocument/2006/relationships" id="260" r:id="R9047bfc93c8d4a96"/>
    <p:sldId xmlns:r="http://schemas.openxmlformats.org/officeDocument/2006/relationships" id="261" r:id="R4cb5ec138c054304"/>
    <p:sldId xmlns:r="http://schemas.openxmlformats.org/officeDocument/2006/relationships" id="262" r:id="Ra5328b6e023b4101"/>
    <p:sldId xmlns:r="http://schemas.openxmlformats.org/officeDocument/2006/relationships" id="263" r:id="Rebdf725b57bf42d3"/>
    <p:sldId xmlns:r="http://schemas.openxmlformats.org/officeDocument/2006/relationships" id="264" r:id="Rc4f3c41e504c4b83"/>
    <p:sldId xmlns:r="http://schemas.openxmlformats.org/officeDocument/2006/relationships" id="265" r:id="R4c168aa1c6664e92"/>
    <p:sldId xmlns:r="http://schemas.openxmlformats.org/officeDocument/2006/relationships" id="266" r:id="R0cfd92ed67be4b5e"/>
    <p:sldId xmlns:r="http://schemas.openxmlformats.org/officeDocument/2006/relationships" id="267" r:id="Rc42f8239c0ab474f"/>
    <p:sldId xmlns:r="http://schemas.openxmlformats.org/officeDocument/2006/relationships" id="268" r:id="R639d58921a40473f"/>
    <p:sldId xmlns:r="http://schemas.openxmlformats.org/officeDocument/2006/relationships" id="269" r:id="Raafa89758f3648b2"/>
    <p:sldId xmlns:r="http://schemas.openxmlformats.org/officeDocument/2006/relationships" id="270" r:id="Rf22a3c7131e5425e"/>
    <p:sldId xmlns:r="http://schemas.openxmlformats.org/officeDocument/2006/relationships" id="271" r:id="R5a489f66a40a4306"/>
    <p:sldId xmlns:r="http://schemas.openxmlformats.org/officeDocument/2006/relationships" id="272" r:id="R208bdb58be6d472e"/>
    <p:sldId xmlns:r="http://schemas.openxmlformats.org/officeDocument/2006/relationships" id="273" r:id="Ra694979cc49d42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96648dd7dc4a1e" /><Relationship Type="http://schemas.openxmlformats.org/officeDocument/2006/relationships/slideMaster" Target="/ppt/slideMasters/slideMaster1.xml" Id="Rae7307d456dd468c" /><Relationship Type="http://schemas.openxmlformats.org/officeDocument/2006/relationships/notesMaster" Target="/ppt/notesMasters/notesMaster1.xml" Id="Rf449ba9f92d94996" /><Relationship Type="http://schemas.openxmlformats.org/officeDocument/2006/relationships/presProps" Target="/ppt/presProps.xml" Id="R98e4dfe30e504baa" /><Relationship Type="http://schemas.openxmlformats.org/officeDocument/2006/relationships/tableStyles" Target="/ppt/tableStyles.xml" Id="Re3d05e9418f2452a" /><Relationship Type="http://schemas.openxmlformats.org/officeDocument/2006/relationships/slide" Target="/ppt/slides/slide1.xml" Id="R4ab5ae0954e14746" /><Relationship Type="http://schemas.openxmlformats.org/officeDocument/2006/relationships/slide" Target="/ppt/slides/slide2.xml" Id="R35e9d005f8784510" /><Relationship Type="http://schemas.openxmlformats.org/officeDocument/2006/relationships/slide" Target="/ppt/slides/slide3.xml" Id="R501776224dd343de" /><Relationship Type="http://schemas.openxmlformats.org/officeDocument/2006/relationships/slide" Target="/ppt/slides/slide4.xml" Id="R1fc09c484ade4540" /><Relationship Type="http://schemas.openxmlformats.org/officeDocument/2006/relationships/slide" Target="/ppt/slides/slide5.xml" Id="R9047bfc93c8d4a96" /><Relationship Type="http://schemas.openxmlformats.org/officeDocument/2006/relationships/slide" Target="/ppt/slides/slide6.xml" Id="R4cb5ec138c054304" /><Relationship Type="http://schemas.openxmlformats.org/officeDocument/2006/relationships/slide" Target="/ppt/slides/slide7.xml" Id="Ra5328b6e023b4101" /><Relationship Type="http://schemas.openxmlformats.org/officeDocument/2006/relationships/slide" Target="/ppt/slides/slide8.xml" Id="Rebdf725b57bf42d3" /><Relationship Type="http://schemas.openxmlformats.org/officeDocument/2006/relationships/slide" Target="/ppt/slides/slide9.xml" Id="Rc4f3c41e504c4b83" /><Relationship Type="http://schemas.openxmlformats.org/officeDocument/2006/relationships/slide" Target="/ppt/slides/slide10.xml" Id="R4c168aa1c6664e92" /><Relationship Type="http://schemas.openxmlformats.org/officeDocument/2006/relationships/slide" Target="/ppt/slides/slide11.xml" Id="R0cfd92ed67be4b5e" /><Relationship Type="http://schemas.openxmlformats.org/officeDocument/2006/relationships/slide" Target="/ppt/slides/slide12.xml" Id="Rc42f8239c0ab474f" /><Relationship Type="http://schemas.openxmlformats.org/officeDocument/2006/relationships/slide" Target="/ppt/slides/slide13.xml" Id="R639d58921a40473f" /><Relationship Type="http://schemas.openxmlformats.org/officeDocument/2006/relationships/slide" Target="/ppt/slides/slide14.xml" Id="Raafa89758f3648b2" /><Relationship Type="http://schemas.openxmlformats.org/officeDocument/2006/relationships/slide" Target="/ppt/slides/slide15.xml" Id="Rf22a3c7131e5425e" /><Relationship Type="http://schemas.openxmlformats.org/officeDocument/2006/relationships/slide" Target="/ppt/slides/slide16.xml" Id="R5a489f66a40a4306" /><Relationship Type="http://schemas.openxmlformats.org/officeDocument/2006/relationships/slide" Target="/ppt/slides/slide17.xml" Id="R208bdb58be6d472e" /><Relationship Type="http://schemas.openxmlformats.org/officeDocument/2006/relationships/slide" Target="/ppt/slides/slide18.xml" Id="Ra694979cc49d42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edfc1a96d042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a230f740eb450e" /><Relationship Type="http://schemas.openxmlformats.org/officeDocument/2006/relationships/notesMaster" Target="/ppt/notesMasters/notesMaster1.xml" Id="Rc3931b00504b42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2694d4354148d6" /><Relationship Type="http://schemas.openxmlformats.org/officeDocument/2006/relationships/notesMaster" Target="/ppt/notesMasters/notesMaster1.xml" Id="R4646c879b65e4c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91deb2e0904c38" /><Relationship Type="http://schemas.openxmlformats.org/officeDocument/2006/relationships/notesMaster" Target="/ppt/notesMasters/notesMaster1.xml" Id="R3cc63dd4417249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f71aaa3ee944785" /><Relationship Type="http://schemas.openxmlformats.org/officeDocument/2006/relationships/notesMaster" Target="/ppt/notesMasters/notesMaster1.xml" Id="R40afae3da5da48f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06123f306ae4655" /><Relationship Type="http://schemas.openxmlformats.org/officeDocument/2006/relationships/notesMaster" Target="/ppt/notesMasters/notesMaster1.xml" Id="Rec2e197fb1aa456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7807f20f7e485f" /><Relationship Type="http://schemas.openxmlformats.org/officeDocument/2006/relationships/notesMaster" Target="/ppt/notesMasters/notesMaster1.xml" Id="R66bef348e51d4a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bb7df3531249e5" /><Relationship Type="http://schemas.openxmlformats.org/officeDocument/2006/relationships/notesMaster" Target="/ppt/notesMasters/notesMaster1.xml" Id="Ra09c879067a945d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d4fa728fbd4775" /><Relationship Type="http://schemas.openxmlformats.org/officeDocument/2006/relationships/notesMaster" Target="/ppt/notesMasters/notesMaster1.xml" Id="R56c5500a333840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65451e5a0ea4b29" /><Relationship Type="http://schemas.openxmlformats.org/officeDocument/2006/relationships/notesMaster" Target="/ppt/notesMasters/notesMaster1.xml" Id="Ra7ebf1e92319444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3fa78cb18254f7f" /><Relationship Type="http://schemas.openxmlformats.org/officeDocument/2006/relationships/notesMaster" Target="/ppt/notesMasters/notesMaster1.xml" Id="Reb151d4378de4c7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dfa0805ffa74024" /><Relationship Type="http://schemas.openxmlformats.org/officeDocument/2006/relationships/notesMaster" Target="/ppt/notesMasters/notesMaster1.xml" Id="R1bf03d4cb434477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934bed432a94522" /><Relationship Type="http://schemas.openxmlformats.org/officeDocument/2006/relationships/notesMaster" Target="/ppt/notesMasters/notesMaster1.xml" Id="R8a009ab859784cd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7c05a4f9bc4259" /><Relationship Type="http://schemas.openxmlformats.org/officeDocument/2006/relationships/notesMaster" Target="/ppt/notesMasters/notesMaster1.xml" Id="R92ea642921d142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18fbbdcf11048b0" /><Relationship Type="http://schemas.openxmlformats.org/officeDocument/2006/relationships/notesMaster" Target="/ppt/notesMasters/notesMaster1.xml" Id="R18fca256f9e0439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d35b1890b3947a4" /><Relationship Type="http://schemas.openxmlformats.org/officeDocument/2006/relationships/notesMaster" Target="/ppt/notesMasters/notesMaster1.xml" Id="R7440cd95fd6b4c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f16f5e54a1549be" /><Relationship Type="http://schemas.openxmlformats.org/officeDocument/2006/relationships/notesMaster" Target="/ppt/notesMasters/notesMaster1.xml" Id="Rb616d3a50a4045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d9a42a84d2a4f54" /><Relationship Type="http://schemas.openxmlformats.org/officeDocument/2006/relationships/notesMaster" Target="/ppt/notesMasters/notesMaster1.xml" Id="Ra179f4194824455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3f5a77eb34a4856" /><Relationship Type="http://schemas.openxmlformats.org/officeDocument/2006/relationships/notesMaster" Target="/ppt/notesMasters/notesMaster1.xml" Id="Re727ddd4d7154b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Guia.pdf, enunciado acadêmico ArchCorp, 2026, 13 páginas. Cenário 4 aplicado a uma locadora fictícia inspirada na Localiza, com dados sintéticos. Referência técnica: main f1669d78f01e2d279b3de60a999ed778e6c9916e, PR #75 de 25/10/2026, https://github.com/Roger-Quinelato/projetoAplicado7/pull/75, commit consultado localmente. Marcos previstos conforme orientação da entrega. Autoria: Roger Quinelato — backend, produto e negócio; Raquel — frontend e levantamento de requisitos. Não há declaração de aceite docente.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relatório, seção 4.4, e docs/arquitetura/AS_IS.md. Categorias são o papel típico de cada sistema; produtos reais não foram informados.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AGENTS.md,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docs/api/openapi.yaml, docs/events/asyncapi.yaml e docs/EXEMPLOS_API.md.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scripts/demo_f1.py e evidência histórica consolidada em docs/EVIDENCIAS_VALIDACAO.md (20/10/2026). Não reexecutado em 28/10. ADR-006 permanece Proposto, aguardando aceite do responsável. A chamada no mesmo processo não tem interrupção por timeout de rede.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scripts/demo_f2.py e evidência histórica consolidada em docs/EVIDENCIAS_VALIDACAO.md (20/10/2026). Não reexecutado em 28/10. O despachante invoca os consumidores internos; RabbitMQ recebe uma cópia opcional e não executa esses consumidores.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F3: quando o processo ainda não existe, resolução e reconciliação levantam uma falha recuperável. O dispatcher não confirma a inbox e mantém a tentativa disponível; se atingir FAILED, reprocessar explicitamente após recuperar a abertura. Regressões em tests/test_regressoes_fechamento.py cobrem falha temporária, limite de tentativas e reprocessamento, sem duplicação. A resolução preserva estados finais e usa o agregado das tarefas. Não há agendador: o despacho é explícito.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(nove atributos com necessidade, risco, estratégia, resultado e evidência) e relatório, seção 4.8. Desempenho histórico de 20/10, local, PostgreSQL 16, 60 clientes e 100 amostras por consulta em 10 consultas de negócio. Não representa hospedagem pública nem medição na main f1669d7.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 Correções de segurança: main f1669d7, PR #75, 25/10/2026, https://github.com/Roger-Quinelato/projetoAplicado7/pull/75, registro local do commit. Credencial com caracteres não ASCII comparada em bytes, exceção inesperada registra só errorType. FAILED é estado persistido da aplicação, não fila de erro RabbitMQ. Sem OIDC e sem tracing distribuído.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(sete perguntas do enunciado) e docs/VISAO_NEGOCIO.md. Indicadores: tempo de ativação, recadastro, SLA incorreto, falhas por integração e tempo de diagnóstico.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Fontes: docs/EVIDENCIAS_VALIDACAO.md, seções históricas de 20/10/2026; registro local do commit f1669d78f01e2d279b3de60a999ed778e6c9916e, PR #75, 25/10/2026, https://github.com/Roger-Quinelato/projetoAplicado7/pull/75; logs da CI Verify 40199072801, https://github.com/Roger-Quinelato/projetoAplicado7/actions/runs/40199072801, executada em 25/10 sobre essa main, consultados no GitHub Actions em 28/10/2026. Quatro jobs success: application 252 passed/14 skipped; postgresql 262 passed/4 skipped; rabbitmq 22 passed; e2e 25 passed e axe separado 1 passed. Suítes sobrepostas, sem total agregado. Histórico de 20/10: PostgreSQL 16/RabbitMQ 3.12 locais, contêiner Linux, Python 3.13, 60 clientes, 100 amostras por consulta em 10 consultas de negócio, p95 máximo de 45,1 ms, 22 roteiros de navegador, F1 20/20, F2 14/14 e F3 15/15. O p95 não foi medido novamente na main f1669d7. Verificação local após correções em 28/10: Python 264 aprovados e 14 ignorados, frontend 19 aprovados, TypeScript e OpenAPI check aprovados. Hospedagem pública e PostgreSQL gerenciado sem comprovação.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Correções de fechamento: F3 não confirma resolução/reconciliação sem processo; eventos mantêm retentativa e reprocessamento explícito. Encerramento do contrato cancela tarefas pendentes e deriva o estado agregado, preservando tarefas finais. Cancelamento financeiro usa a data UTC e o estado efetivo da consulta; vencida recebe 409. As correções não alteram registros antigos já consumidos. Autoria declarada: Roger Quinelato — backend, produto e negócio; Raquel — frontend e levantamento de requisitos. Permanecem ensaio, aceite docente e comprovação da hospedagem prevista no plano. OIDC, tracing distribuído e consumo pelo broker são evoluções.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b3a0cba41e46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02e8bbef03400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fbc1c7c30a42c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af8503bdc34c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048fb4e70e465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d020f0892b4f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E593D6-F72B-43BE-9AC4-77BEFBAB9C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724803F-9AAA-44BE-990D-F488C48E523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012BA3A-20E3-4570-BCE9-EADBED3A76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33B1B7-8AA5-481A-950F-F755C50D4F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AF78521-657A-422A-B4FE-C5FFF8F326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BC370B-34D0-451D-AE94-5E81F0ED24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E7BA3BD-838A-4DE0-87C0-F04DAD564D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85DE391-5210-4C50-BC51-8E74EF8A2E7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762BA5-AF84-400C-BB56-1F66DBD20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FD41CB0-1A43-40DB-89C3-7BF57DC7C84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7c395acbff415f" /><Relationship Type="http://schemas.openxmlformats.org/officeDocument/2006/relationships/slideLayout" Target="/ppt/slideLayouts/slideLayout1.xml" Id="Rcf4242fc289b4761" /><Relationship Type="http://schemas.openxmlformats.org/officeDocument/2006/relationships/slideLayout" Target="/ppt/slideLayouts/slideLayout2.xml" Id="R37ad38a59baa40d6" /><Relationship Type="http://schemas.openxmlformats.org/officeDocument/2006/relationships/slideLayout" Target="/ppt/slideLayouts/slideLayout3.xml" Id="R28b31ef2446e4d08" /><Relationship Type="http://schemas.openxmlformats.org/officeDocument/2006/relationships/slideLayout" Target="/ppt/slideLayouts/slideLayout4.xml" Id="R4c38481493bf4911" /><Relationship Type="http://schemas.openxmlformats.org/officeDocument/2006/relationships/slideLayout" Target="/ppt/slideLayouts/slideLayout5.xml" Id="R4e47be286a5f4d82" /><Relationship Type="http://schemas.openxmlformats.org/officeDocument/2006/relationships/slideLayout" Target="/ppt/slideLayouts/slideLayout6.xml" Id="R19167ebe19734fd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4242fc289b4761"/>
    <p:sldLayoutId xmlns:r="http://schemas.openxmlformats.org/officeDocument/2006/relationships" id="2147483650" r:id="R37ad38a59baa40d6"/>
    <p:sldLayoutId xmlns:r="http://schemas.openxmlformats.org/officeDocument/2006/relationships" id="2147483651" r:id="R28b31ef2446e4d08"/>
    <p:sldLayoutId xmlns:r="http://schemas.openxmlformats.org/officeDocument/2006/relationships" id="2147483652" r:id="R4c38481493bf4911"/>
    <p:sldLayoutId xmlns:r="http://schemas.openxmlformats.org/officeDocument/2006/relationships" id="2147483653" r:id="R4e47be286a5f4d82"/>
    <p:sldLayoutId xmlns:r="http://schemas.openxmlformats.org/officeDocument/2006/relationships" id="2147483654" r:id="R19167ebe19734f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7bf62ea9cc4ad3" /><Relationship Type="http://schemas.openxmlformats.org/officeDocument/2006/relationships/notesSlide" Target="/ppt/notesSlides/notesSlide1.xml" Id="R84225b42f18146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208641c138425d" /><Relationship Type="http://schemas.openxmlformats.org/officeDocument/2006/relationships/notesSlide" Target="/ppt/notesSlides/notesSlide2.xml" Id="R4cf6c370a6824c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67496c2124d77" /><Relationship Type="http://schemas.openxmlformats.org/officeDocument/2006/relationships/image" Target="/ppt/media/image.png" Id="R5d559bf6cc6a4ef0" /><Relationship Type="http://schemas.openxmlformats.org/officeDocument/2006/relationships/notesSlide" Target="/ppt/notesSlides/notesSlide3.xml" Id="Rf400ef23c03840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a38b4dd01b4bd6" /><Relationship Type="http://schemas.openxmlformats.org/officeDocument/2006/relationships/notesSlide" Target="/ppt/notesSlides/notesSlide4.xml" Id="R62269c82e47a4f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a8d26c12054c26" /><Relationship Type="http://schemas.openxmlformats.org/officeDocument/2006/relationships/notesSlide" Target="/ppt/notesSlides/notesSlide5.xml" Id="Red8a21f456f447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ae436ff69ff419c" /><Relationship Type="http://schemas.openxmlformats.org/officeDocument/2006/relationships/image" Target="/ppt/media/image2.png" Id="Rfc50d45d6e07439c" /><Relationship Type="http://schemas.openxmlformats.org/officeDocument/2006/relationships/notesSlide" Target="/ppt/notesSlides/notesSlide6.xml" Id="R8ab1b1b1d0054a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1f5327972e4b1c" /><Relationship Type="http://schemas.openxmlformats.org/officeDocument/2006/relationships/notesSlide" Target="/ppt/notesSlides/notesSlide7.xml" Id="Ra3217312136044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16d1b6f61f4c9e" /><Relationship Type="http://schemas.openxmlformats.org/officeDocument/2006/relationships/notesSlide" Target="/ppt/notesSlides/notesSlide8.xml" Id="R49c562a8144e4e9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8ebeda204145e5" /><Relationship Type="http://schemas.openxmlformats.org/officeDocument/2006/relationships/notesSlide" Target="/ppt/notesSlides/notesSlide9.xml" Id="R995c1a0df07b42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b9a962678d4cf9" /><Relationship Type="http://schemas.openxmlformats.org/officeDocument/2006/relationships/notesSlide" Target="/ppt/notesSlides/notesSlide10.xml" Id="R0b02367709b140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f722ede5924575" /><Relationship Type="http://schemas.openxmlformats.org/officeDocument/2006/relationships/notesSlide" Target="/ppt/notesSlides/notesSlide11.xml" Id="R61834852f1d04a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7781e5e32e4c67" /><Relationship Type="http://schemas.openxmlformats.org/officeDocument/2006/relationships/notesSlide" Target="/ppt/notesSlides/notesSlide12.xml" Id="R345add3dab1c499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a6ac13ee9e4eee" /><Relationship Type="http://schemas.openxmlformats.org/officeDocument/2006/relationships/notesSlide" Target="/ppt/notesSlides/notesSlide13.xml" Id="R2496d98dccb0449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f711db117b4982" /><Relationship Type="http://schemas.openxmlformats.org/officeDocument/2006/relationships/notesSlide" Target="/ppt/notesSlides/notesSlide14.xml" Id="R746b74247ba2401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41157be4264de0" /><Relationship Type="http://schemas.openxmlformats.org/officeDocument/2006/relationships/notesSlide" Target="/ppt/notesSlides/notesSlide15.xml" Id="Rc956ac6b10a2476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f943c8118148d6" /><Relationship Type="http://schemas.openxmlformats.org/officeDocument/2006/relationships/notesSlide" Target="/ppt/notesSlides/notesSlide16.xml" Id="Ra432025126e8458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1d1afa0b864d19" /><Relationship Type="http://schemas.openxmlformats.org/officeDocument/2006/relationships/notesSlide" Target="/ppt/notesSlides/notesSlide17.xml" Id="Ra3304c7109d54c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0c722155444424" /><Relationship Type="http://schemas.openxmlformats.org/officeDocument/2006/relationships/notesSlide" Target="/ppt/notesSlides/notesSlide18.xml" Id="Rd7017a9a17ed41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7BA7BF-0FC3-42F5-BEDD-56D0F88C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123F34-9206-44F9-873E-D8CE77E13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8A6F4-153E-4098-9BFA-1F94814A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1C11C2-D764-4258-BF41-94F5B3CC2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91125"/>
            <a:ext cx="1047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Roger Quinelato — backend, produto e negócio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Raquel — frontend e levantamento de requisitos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Versão 28/10/2026  ·  Base main f1669d7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Entrega pronta 09/11/2026  ·  Apresentação 23/11/2026 (previstas)</a:t>
            </a:r>
          </a:p>
        </p:txBody>
      </p:sp>
    </p:spTree>
    <p:extLst>
      <p:ext uri="{BB962C8B-B14F-4D97-AF65-F5344CB8AC3E}">
        <p14:creationId xmlns:p14="http://schemas.microsoft.com/office/powerpoint/2010/main" val="1715833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29199B-0D7C-4073-BE01-5316BD5D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22229-C8DA-4D79-B152-407D4B58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56849-E03C-4BF5-9ED1-FF68DF236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CC6C73-1ABE-482C-8F6F-8F790D6F8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D27AF-29AE-413B-8E63-4879CE442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E2B0E-B3E7-4C6E-B3A3-F5C1F2FF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16FCEC-C2A3-4B05-BBE5-BE2208A1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CA3AD-1FB4-45C0-A919-8930A0F3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3BF96-D821-4DCF-AAA1-86B5EE2E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21105062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CA6177-A006-46AA-833F-32CFA53A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84A404-D6ED-48E3-BE90-F45C3630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5D91BD-9C20-4987-A3F7-E6FB362D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A54234-01ED-4877-BCF7-82154F223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6EAD13-2D80-48D0-8BED-BE04AEE04B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59bf6cc6a4ef0"/>
          <a:stretch xmlns:a="http://schemas.openxmlformats.org/drawingml/2006/main"/>
        </p:blipFill>
        <p:spPr>
          <a:xfrm xmlns:a="http://schemas.openxmlformats.org/drawingml/2006/main">
            <a:off x="666750" y="1676992"/>
            <a:ext cx="10858500" cy="24086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ABC91-902C-4359-8DB3-2D2FCDB7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e lançamentos manuais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20857704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0320C-A6B9-404F-8BA9-46C98C0A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62DDC-9C83-4269-9B70-492403B6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B20F14-E47C-496B-BFDC-F11B5EEB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3874C6-71A9-4EF5-9075-49B1C2631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43341-4D39-42B1-951D-4531190D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1E5E86-2D21-48AD-B285-A724B860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8965597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5F427D-5927-414D-80C3-76B25A95D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6A41D9-2755-47FC-8005-25D4EAA2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DEE94-107F-4B13-8DEB-8ADA938E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8B86E-480C-4FB3-8A69-04EA1215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8626A-1C6C-462C-A021-FA390929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420BE-A591-4776-B9BB-0869875C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2580860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06B4C5-3BA7-447D-B518-B1875DF04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78438-CD38-40E9-97C4-60A82AB1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ECF8E-004B-45A6-BBA7-97E86262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3924FC-730F-4034-B385-F0B13F7AF0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50d45d6e07439c"/>
          <a:stretch xmlns:a="http://schemas.openxmlformats.org/drawingml/2006/main"/>
        </p:blipFill>
        <p:spPr>
          <a:xfrm xmlns:a="http://schemas.openxmlformats.org/drawingml/2006/main">
            <a:off x="1212891" y="1095375"/>
            <a:ext cx="3384469" cy="5191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51DC41-510B-453B-8D79-38A470850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5715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contextos de negócio com dados próprios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CustomerReader e ContractEntitlementPort ligam contextos por portas públicas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dispatcher e inbox entregam eventos sem duplicar efeitos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Auditoria e correlationId atravessam toda a operação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5AFA24-544B-4EEA-B007-1E860F8A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16946910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9A3812-0970-4815-B151-06F8E427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C04EDC-23A7-4076-A6B9-385F1B57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Sistemas corporativos envolvidos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D0718-0216-41B6-8C25-EBCBDD16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53F9B0-D381-46C2-9D21-277656D4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67EA3-88EF-4A0D-8D81-D1E504D9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DCA79-481B-43E3-898E-A257D13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do cliente; fornece dados a 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55CD49-58C2-48FD-9D78-EE2E40D5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7DA58-23C6-483F-954D-2CA5B47FB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9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contratos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8332B-F9F3-44CB-B9A6-F9C7CA96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9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e SLA; publica eventos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24895-19D0-4815-8296-FBCBD5B5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3D61AD-1854-457B-A734-66DFBA8B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62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Módulo financeiro de ERP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3ABC7-E2E8-4F71-82E3-658391BD6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62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Faturas e pagamentos por eventos de contrato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FA73D-C084-48A7-9951-3339A323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24h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FABA8-9A78-4768-B270-1370FADB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atendimento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FE3BD-87CD-45F4-8032-718369B2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14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com SLA consultado em Contracts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625F3E-4860-425E-ADEE-16EBD06C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Gestão de processos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7BA545-3E2D-4B91-AAAD-45FFB5A7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BPM /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2E6204-8F12-48F5-8941-97F82B01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6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Retirada e resolução iniciadas por eventos</a:t>
            </a:r>
          </a:p>
        </p:txBody>
      </p:sp>
    </p:spTree>
    <p:extLst>
      <p:ext uri="{BB962C8B-B14F-4D97-AF65-F5344CB8AC3E}">
        <p14:creationId xmlns:p14="http://schemas.microsoft.com/office/powerpoint/2010/main" val="2531880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BE0C9B-86A4-4F22-8713-A7B9077D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96842-A241-4A95-82F6-7080BFBF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8253B7-6293-4A99-902F-5A60606C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E169B-4D79-469F-AA6E-98763925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AF2BF-E458-4D9D-B0DF-14FB54932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3C95D-EC79-4147-B7CB-7609011C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3E00B-77D4-4CEC-8BF0-2A3C2372C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77D24F-7031-4E99-9F91-0050DA02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6D99B1-EB46-482D-AFE4-CD84FC9C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EF8C1-12EB-4F6C-A839-5D2E4CA4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0CD44-B8B9-4AB6-B214-0786B680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117F58-37E0-4085-AC9A-56D9568B8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49035-E2CD-404D-98B5-363D6A6B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B909B-FEF9-4756-820E-E78DB10C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7D92-C779-486C-9E83-9BD46666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3692304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F6ADD-F4AB-42A9-BC1D-7628FF00D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04C20-0358-4811-B453-D63133E8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APIs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C1492-7596-4C04-9976-6DBDFCAE3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5F0E4-EF2D-4577-BB4C-38F4D0FD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/api/v1/contracts/reservations/{id}/draft  ·  F1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/api/v1/contracts/{id}/activate  ·  F2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/api/v1/support/tickets  ·  F3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/api/v1/integration/outbox/dispatch  ·  entrega de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GET /api/v1/operations/{correlationId}  ·  trilha consolidada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1BA5F0-80B6-42AF-B889-E6E23490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OpenAPI 3.1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Swagger em /docs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C3E2B3-8192-4F15-A9FF-1CB9DBB1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AsyncAPI 3.0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 eventos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5D7432-D8C2-44EC-B6EE-C9D8FF28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problem+json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code e correlationId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57B02-747B-4504-9677-66620B8CD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Comandos repetíveis aceitam Idempotency-Key</a:t>
            </a:r>
          </a:p>
        </p:txBody>
      </p:sp>
    </p:spTree>
    <p:extLst>
      <p:ext uri="{BB962C8B-B14F-4D97-AF65-F5344CB8AC3E}">
        <p14:creationId xmlns:p14="http://schemas.microsoft.com/office/powerpoint/2010/main" val="16982391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40F95-C2FD-43D6-AC0E-75A5BE08FD12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0953B0-AFF9-42BC-AAD0-E4C0CB08287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F13E3-7D5F-4DC1-8451-AF0FF4024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67645-8593-414A-8792-967363AA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89B18-A401-4FE9-B1EF-F2ABFA04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395EF-1D18-48D1-B4E5-C7F4015A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02A70-E0EB-45AD-AFFD-503B494A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117A8-CBA2-4A38-BB28-78C271E5B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950075-DB97-46C0-A69F-39E64DD2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F34D2-41C4-4F3E-970F-5BD0C97A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6725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CRM fora do ar: retentativa limitada com jitter e 503 sem efeito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C98D4-DDD9-4A4C-B071-EDE7E735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F1 histórico: 20/20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890944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9D90C-7176-491F-97E0-556268202BC1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C28AD2-0A05-4345-AA0E-F7DC0BC1144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C2A792-1E08-4C39-BE29-B100E648C53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7E3721-7FDC-46F4-9F81-D2BC6EA8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D9F2B-4B42-4412-A15A-C0E9AC76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E6950C-272C-4D8C-BBD0-D5177ACB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3A952-48B4-4BC4-B950-F8E432EF3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1F7D2-F3CD-4B84-94AC-25820256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B7B8A-C81A-4FA4-8059-C41E7ABB6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919A4-AB28-4234-8C3D-5008F443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CBF89-ECE9-4060-8946-E8848A38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2A241-8FE6-42C2-B275-929E15CE6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2450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F2 histórico: 14/14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12181211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5AFB7D-BE6C-4CD3-9503-47969409EE92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2292E-3616-430E-9B13-4373841738AB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CEB873-C258-4577-A8D4-E33A5AB08AF3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D38835-D701-44D0-B376-F0D6860D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AD531-A881-4430-98B7-7282EB35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F12ED-C70B-4BE2-952E-64629CCD6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A2A85-1424-4361-9E85-98CF621F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5E7CE-1FF9-4E15-921D-2E73F425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A9BAC1-A06E-4470-90D9-B633A04A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4822A7-388D-4488-9664-796739AF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1F238-0F08-4B79-9804-A68BDD97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1009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Recuperação: resolução aguarda a abertura, sem confirmar a inbox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8C94D-10F6-4672-8832-FEDE57A70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19750"/>
            <a:ext cx="685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F3 histórico: 15/15 checagens (20/10)</a:t>
            </a:r>
          </a:p>
        </p:txBody>
      </p:sp>
    </p:spTree>
    <p:extLst>
      <p:ext uri="{BB962C8B-B14F-4D97-AF65-F5344CB8AC3E}">
        <p14:creationId xmlns:p14="http://schemas.microsoft.com/office/powerpoint/2010/main" val="6170876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E97FB6-73A2-4C75-9E9D-DD562EDF8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BE12BB-23C4-454F-BE00-88E55A01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contratos técnicos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811759-5B24-4FD5-9FD5-BC1B5DB1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44B4FC-A9BA-41B6-9213-7BBB7411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1529D-6954-44A0-BAF1-A5677DC4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D98FCF-DFD4-41BD-B77D-0F4D0BA7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20554330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945D96-974F-43BF-927C-F496C5A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754AE8-80AC-47D6-A94A-C3C145B8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Análise de qualidade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FF0C93-4DAA-4FD1-8744-CEC99183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DCC13F-8673-4A3D-BFEE-800188FC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Atributo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EC15F2-ABC3-447C-A629-61C6AB90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90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Risco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845FCC-8AB5-407D-8532-593E2FEE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Estratégia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060652-2873-47A4-B40B-0A697FE3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90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5D7F0D-31B3-45B0-B734-1C9441EE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5AA0FF-AA79-45C7-A84C-07699837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errado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1BD74-1436-45AF-95A3-07D25B028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e IDs legados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1A7976-6585-4995-938B-C345C313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Mesma identidade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875676-F3EE-46BD-B1F1-2C9C0A1F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D1AFDC-3163-4C8A-B7B6-31652E77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 dupla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16312-28FA-4952-8381-973C2B9A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idempotência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C967B5-40E3-4EDF-B968-EA63B070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Um efeito por fato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46CB0F-DC9D-44B7-BB03-97B00EB9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Disponibilidade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36741A-C92A-4F20-A2C8-1396C1DC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766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perdido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5DA5B6-9479-4D87-82E1-2F3D3A67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pendente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6B858-B6AF-4340-A718-9128E414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Reconciliação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24C6E2-0A87-4750-963E-A4CED4A6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Manutenibilidade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5F01C0-DE76-4819-B31D-A8B1B7EC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Acoplamento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056AAA-A703-497D-B27E-1F8A54F2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teste de fronteira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38B88-97E1-4026-9571-5ECCE02B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9B8CA0-D1E6-411A-93E5-1353267F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68216A-47B0-49C6-A622-84E1CCE4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387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Latência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4A164B-AFB5-4866-B578-4FAF1D74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CA3584-0656-4FDD-A020-FC709CF0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387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45,1 ms (20/10)</a:t>
            </a:r>
          </a:p>
        </p:txBody>
      </p:sp>
    </p:spTree>
    <p:extLst>
      <p:ext uri="{BB962C8B-B14F-4D97-AF65-F5344CB8AC3E}">
        <p14:creationId xmlns:p14="http://schemas.microsoft.com/office/powerpoint/2010/main" val="97105377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542366-CA75-40AD-B27E-29E765C3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322954-7812-4FB8-A503-E7410A0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1C8F2-E859-4806-AF07-D74512DC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59320-B910-4DDF-8591-FE654D42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67159-FB52-4BEA-B2F0-11D1394F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FAILED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85F56-5C37-4B69-BFD1-F0AB660A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112E6-8B2B-4385-AF3A-9EBE7A3A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compartilhado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Credenciais comparadas em bytes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Erros sem mensagem sensível nos logs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77BD21-64BF-48F3-A288-0AE7726B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63902-A695-454C-B33E-4F4874AF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077F5-96CC-44AF-9280-E3D196D9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0125"/>
            <a:ext cx="10287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Regressões cobrem recuperação fora de ordem e estados finais.</a:t>
            </a:r>
          </a:p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Falhas permanecem recuperáveis por retentativa ou reprocessamento explícito.</a:t>
            </a:r>
          </a:p>
        </p:txBody>
      </p:sp>
    </p:spTree>
    <p:extLst>
      <p:ext uri="{BB962C8B-B14F-4D97-AF65-F5344CB8AC3E}">
        <p14:creationId xmlns:p14="http://schemas.microsoft.com/office/powerpoint/2010/main" val="17475528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3B64C-A103-4000-9F25-C2376DA4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988D9-1C71-429D-A050-E4F3B584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Escalabilidade manutenção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86A2C-E851-487B-B0D9-B056993A2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1A78B9-F96D-4426-AB51-29062316F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Escalabilidade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5E67D-BC30-4DBD-9F5F-644DC4DC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Réplicas da API sem estado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Consumidores idempotentes por fila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só com métricas e ADR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9D129-5A0E-46A7-9390-19B4074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Manutenção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45B7CE-17E1-46E4-8CE1-CB5BBE11A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no contexto proprietário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de contrato e de fronteira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191DB-5BFF-478C-B51B-E16BE158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7ED06C-C097-4D11-BF85-F0A49CCC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aditivos; quebra cria v2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Migrações aditivas (ADR-002)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Atualização gradual por versão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83306-7D93-4192-B2BE-B834AE5E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Viabilidade: um implantável, serviços gratuitos (não custo zero) e equipe júnior; custos reais a levantar</a:t>
            </a:r>
          </a:p>
        </p:txBody>
      </p:sp>
    </p:spTree>
    <p:extLst>
      <p:ext uri="{BB962C8B-B14F-4D97-AF65-F5344CB8AC3E}">
        <p14:creationId xmlns:p14="http://schemas.microsoft.com/office/powerpoint/2010/main" val="993174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B64A3A-2B20-4ED0-A3BC-36BA44FE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FFCB0E-04B5-43FC-B171-CEAF8EDB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Evidências e versão de referência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8CF28-8A4E-4602-A9F2-1517702B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BD19F4-5EE3-4D8E-BE37-97124E62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Histórico de 20/10/2026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BA3B1-3BC9-4C95-8AA8-71BCA979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519112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246 testes com PostgreSQL e RabbitMQ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232 aprovados e 14 ignorados em SQLite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22 roteiros de navegador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máximo de 45,1 ms em consultas locais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D025E3-5987-4703-80BB-45C427C3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33500"/>
            <a:ext cx="514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CI da main f1669d7 em 25/10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132C86-FC6E-40A9-86F0-7F9DF980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47875"/>
            <a:ext cx="5048250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application: 252 aprovados, 14 ignorados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postgresql: 262 aprovados, 4 ignorados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rabbitmq: 22 aprovados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e2e: 25 aprovados; axe: 1 aprovado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24ED5F-873C-443C-9EB1-ED45EE45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863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CI 40199072801 com quatro jobs concluídos com sucesso.</a:t>
            </a:r>
          </a:p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As suítes se sobrepõem. Não somar as contagens. p95 histórico de 20/10.</a:t>
            </a:r>
          </a:p>
        </p:txBody>
      </p:sp>
    </p:spTree>
    <p:extLst>
      <p:ext uri="{BB962C8B-B14F-4D97-AF65-F5344CB8AC3E}">
        <p14:creationId xmlns:p14="http://schemas.microsoft.com/office/powerpoint/2010/main" val="8670883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81C31D-F9DF-4CBF-8BC7-5F64E4F4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45D540-06F8-440C-A193-761B3899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marcos da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40B37-7B7A-4651-BEC1-3956C19F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  ·  Versão 28/10/2026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368321-6D83-42E4-A7E7-755A6F8D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773938-6CD3-4CC2-BC19-5ABC6764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Os três fluxos têm evidências no protótipo acadêmico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Regressões cobrem recuperação e estados finais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41FD32-59BE-4494-9646-7FBE1056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BB2A3B-77AE-4AA2-91D4-19B704E5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526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F3 aguarda a abertura e permite reprocessamento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 respeita o agregado das tarefas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 vencida não aceita cancelamento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Roger Quinelato e Raquel: autoria preenchida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B77BF-31C0-45F1-8C3C-2FDDB8C2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43500"/>
            <a:ext cx="904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Entrega pronta prevista para 09/11/2026</a:t>
            </a:r>
          </a:p>
          <a:p xmlns:a="http://schemas.openxmlformats.org/drawingml/2006/main">
            <a:pPr>
              <a:defRPr sz="20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Apresentação prevista para 23/11/2026</a:t>
            </a:r>
          </a:p>
        </p:txBody>
      </p:sp>
    </p:spTree>
    <p:extLst>
      <p:ext uri="{BB962C8B-B14F-4D97-AF65-F5344CB8AC3E}">
        <p14:creationId xmlns:p14="http://schemas.microsoft.com/office/powerpoint/2010/main" val="8910645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2026-10-28T20:49:07.6800000Z</dcterms:created>
  <dcterms:modified xsi:type="dcterms:W3CDTF">2026-10-28T20:49:07.6800000Z</dcterms:modified>
</coreProperties>
</file>