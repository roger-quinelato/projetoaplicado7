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033b3a3da3c4f88" /><Relationship Type="http://schemas.openxmlformats.org/officeDocument/2006/relationships/extended-properties" Target="/docProps/app.xml" Id="R0a0a715d6f8743ab" /><Relationship Type="http://schemas.openxmlformats.org/officeDocument/2006/relationships/officeDocument" Target="/ppt/presentation.xml" Id="R57f1262da2014a5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b6f5ffe7fdf45f3"/>
  </p:sldMasterIdLst>
  <p:notesMasterIdLst>
    <p:notesMasterId xmlns:r="http://schemas.openxmlformats.org/officeDocument/2006/relationships" r:id="R5b731b2f051b4588"/>
  </p:notesMasterIdLst>
  <p:sldIdLst>
    <p:sldId xmlns:r="http://schemas.openxmlformats.org/officeDocument/2006/relationships" id="256" r:id="R87e54732273d4db3"/>
    <p:sldId xmlns:r="http://schemas.openxmlformats.org/officeDocument/2006/relationships" id="257" r:id="R6bc14637d0ea4daf"/>
    <p:sldId xmlns:r="http://schemas.openxmlformats.org/officeDocument/2006/relationships" id="258" r:id="Rfbd90fb79fc84548"/>
    <p:sldId xmlns:r="http://schemas.openxmlformats.org/officeDocument/2006/relationships" id="259" r:id="Rc6547b9bc7994161"/>
    <p:sldId xmlns:r="http://schemas.openxmlformats.org/officeDocument/2006/relationships" id="260" r:id="R52e8c99217c64ee3"/>
    <p:sldId xmlns:r="http://schemas.openxmlformats.org/officeDocument/2006/relationships" id="261" r:id="R230a5c05c94e47b1"/>
    <p:sldId xmlns:r="http://schemas.openxmlformats.org/officeDocument/2006/relationships" id="262" r:id="Rbd70372691a8450c"/>
    <p:sldId xmlns:r="http://schemas.openxmlformats.org/officeDocument/2006/relationships" id="263" r:id="R9c0db81e27e34c54"/>
    <p:sldId xmlns:r="http://schemas.openxmlformats.org/officeDocument/2006/relationships" id="264" r:id="R5318c6e3243942ff"/>
    <p:sldId xmlns:r="http://schemas.openxmlformats.org/officeDocument/2006/relationships" id="265" r:id="R4a856d7bd93b4fd8"/>
    <p:sldId xmlns:r="http://schemas.openxmlformats.org/officeDocument/2006/relationships" id="266" r:id="R02e8fa08567d4417"/>
    <p:sldId xmlns:r="http://schemas.openxmlformats.org/officeDocument/2006/relationships" id="267" r:id="R03c1b51cda5c43b9"/>
    <p:sldId xmlns:r="http://schemas.openxmlformats.org/officeDocument/2006/relationships" id="268" r:id="R05441a3bb5194558"/>
    <p:sldId xmlns:r="http://schemas.openxmlformats.org/officeDocument/2006/relationships" id="269" r:id="R3b6935c9e5d3481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702424ca1a437d" /><Relationship Type="http://schemas.openxmlformats.org/officeDocument/2006/relationships/slideMaster" Target="/ppt/slideMasters/slideMaster1.xml" Id="Reb6f5ffe7fdf45f3" /><Relationship Type="http://schemas.openxmlformats.org/officeDocument/2006/relationships/notesMaster" Target="/ppt/notesMasters/notesMaster1.xml" Id="R5b731b2f051b4588" /><Relationship Type="http://schemas.openxmlformats.org/officeDocument/2006/relationships/presProps" Target="/ppt/presProps.xml" Id="Ra9ce6c383d5c4119" /><Relationship Type="http://schemas.openxmlformats.org/officeDocument/2006/relationships/tableStyles" Target="/ppt/tableStyles.xml" Id="R246079a53dba46b0" /><Relationship Type="http://schemas.openxmlformats.org/officeDocument/2006/relationships/slide" Target="/ppt/slides/slide1.xml" Id="R87e54732273d4db3" /><Relationship Type="http://schemas.openxmlformats.org/officeDocument/2006/relationships/slide" Target="/ppt/slides/slide2.xml" Id="R6bc14637d0ea4daf" /><Relationship Type="http://schemas.openxmlformats.org/officeDocument/2006/relationships/slide" Target="/ppt/slides/slide3.xml" Id="Rfbd90fb79fc84548" /><Relationship Type="http://schemas.openxmlformats.org/officeDocument/2006/relationships/slide" Target="/ppt/slides/slide4.xml" Id="Rc6547b9bc7994161" /><Relationship Type="http://schemas.openxmlformats.org/officeDocument/2006/relationships/slide" Target="/ppt/slides/slide5.xml" Id="R52e8c99217c64ee3" /><Relationship Type="http://schemas.openxmlformats.org/officeDocument/2006/relationships/slide" Target="/ppt/slides/slide6.xml" Id="R230a5c05c94e47b1" /><Relationship Type="http://schemas.openxmlformats.org/officeDocument/2006/relationships/slide" Target="/ppt/slides/slide7.xml" Id="Rbd70372691a8450c" /><Relationship Type="http://schemas.openxmlformats.org/officeDocument/2006/relationships/slide" Target="/ppt/slides/slide8.xml" Id="R9c0db81e27e34c54" /><Relationship Type="http://schemas.openxmlformats.org/officeDocument/2006/relationships/slide" Target="/ppt/slides/slide9.xml" Id="R5318c6e3243942ff" /><Relationship Type="http://schemas.openxmlformats.org/officeDocument/2006/relationships/slide" Target="/ppt/slides/slide10.xml" Id="R4a856d7bd93b4fd8" /><Relationship Type="http://schemas.openxmlformats.org/officeDocument/2006/relationships/slide" Target="/ppt/slides/slide11.xml" Id="R02e8fa08567d4417" /><Relationship Type="http://schemas.openxmlformats.org/officeDocument/2006/relationships/slide" Target="/ppt/slides/slide12.xml" Id="R03c1b51cda5c43b9" /><Relationship Type="http://schemas.openxmlformats.org/officeDocument/2006/relationships/slide" Target="/ppt/slides/slide13.xml" Id="R05441a3bb5194558" /><Relationship Type="http://schemas.openxmlformats.org/officeDocument/2006/relationships/slide" Target="/ppt/slides/slide14.xml" Id="R3b6935c9e5d3481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5e0f54fd71e43e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c2984763502494a" /><Relationship Type="http://schemas.openxmlformats.org/officeDocument/2006/relationships/notesMaster" Target="/ppt/notesMasters/notesMaster1.xml" Id="R0399c39c73634d2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ec5a87e324f4e25" /><Relationship Type="http://schemas.openxmlformats.org/officeDocument/2006/relationships/notesMaster" Target="/ppt/notesMasters/notesMaster1.xml" Id="R7d79645a7f8a42a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db776c8ed3e456e" /><Relationship Type="http://schemas.openxmlformats.org/officeDocument/2006/relationships/notesMaster" Target="/ppt/notesMasters/notesMaster1.xml" Id="Rb360b9939a52425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214042088d403a" /><Relationship Type="http://schemas.openxmlformats.org/officeDocument/2006/relationships/notesMaster" Target="/ppt/notesMasters/notesMaster1.xml" Id="R18a0269cc142449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b9a4352f21b4df8" /><Relationship Type="http://schemas.openxmlformats.org/officeDocument/2006/relationships/notesMaster" Target="/ppt/notesMasters/notesMaster1.xml" Id="R82c7e829de514fa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7b1f8b833ff4006" /><Relationship Type="http://schemas.openxmlformats.org/officeDocument/2006/relationships/notesMaster" Target="/ppt/notesMasters/notesMaster1.xml" Id="R8c79899ed9a7400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ec2044eb0f748f9" /><Relationship Type="http://schemas.openxmlformats.org/officeDocument/2006/relationships/notesMaster" Target="/ppt/notesMasters/notesMaster1.xml" Id="R0a61cc6f90c54ff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e4fab8174cf42bf" /><Relationship Type="http://schemas.openxmlformats.org/officeDocument/2006/relationships/notesMaster" Target="/ppt/notesMasters/notesMaster1.xml" Id="R84b8beb4fc7f447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6f216bd4e7c4238" /><Relationship Type="http://schemas.openxmlformats.org/officeDocument/2006/relationships/notesMaster" Target="/ppt/notesMasters/notesMaster1.xml" Id="R6f06376235b7487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64963b907b04b6f" /><Relationship Type="http://schemas.openxmlformats.org/officeDocument/2006/relationships/notesMaster" Target="/ppt/notesMasters/notesMaster1.xml" Id="Rc8003b43083e41d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f59d9fb64ab437d" /><Relationship Type="http://schemas.openxmlformats.org/officeDocument/2006/relationships/notesMaster" Target="/ppt/notesMasters/notesMaster1.xml" Id="R39bf116493b74cb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5dc9900058f49e2" /><Relationship Type="http://schemas.openxmlformats.org/officeDocument/2006/relationships/notesMaster" Target="/ppt/notesMasters/notesMaster1.xml" Id="R570b6eaba3914aa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8b9f3973f7343ed" /><Relationship Type="http://schemas.openxmlformats.org/officeDocument/2006/relationships/notesMaster" Target="/ppt/notesMasters/notesMaster1.xml" Id="Re43e8f0c53d1421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f03b151f95647a5" /><Relationship Type="http://schemas.openxmlformats.org/officeDocument/2006/relationships/notesMaster" Target="/ppt/notesMasters/notesMaster1.xml" Id="R539d28b245324c1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 principal: Projeto Aplicado ArchCorp, enunciado acadêmico fornecido ao projeto,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enunciado acadêmico, páginas 1 a 3. Produtos, tecnologias e fluxos atuais específicos permanecem como premissas a validar.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docs/arquitetura/AS_IS.md e enunciado acadêmico. A sequência ilustrada é uma hipótese explícita para a demonstração.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PLANO_IMPLEMENTACAO_CENARIO_4.md, seção 5, e docs/MATRIZ_RASTREABILIDADE.md.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docs/adr/ADR-001-integracao-empresa-de-servicos.md. Opções consideradas: REST ponto a ponto, microsserviços completos, ESB central e monólito modular orientado a serviços.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docs/arquitetura/TO_BE.md. Os conectores representam dependências por portas e eventos, não acesso direto a tabelas.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AGENT.md, tabela de propriedade dos dados, e plano de implementação, seção 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docs/INTEGRACOES.md e teste test_f1_cria_rascunho_sem_recadastro_e_reutiliza_idempotencia.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docs/INTEGRACOES.md e teste test_f2_ativacao_cria_uma_cobranca_e_um_onboarding.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docs/INTEGRACOES.md e testes de F3 e indisponibilidade.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docs/events/asyncapi.yaml, docs/api/openapi.yaml e plano de implementação, seção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docs/ATRIBUTOS_QUALIDADE.md e docs/EVIDENCIAS_VALIDACAO.md.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docs/EVOLUCAO_MANUTENCAO.md e docs/VISAO_NEGOCIO.md.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docs/EVIDENCIAS_VALIDACAO.md. Medição local em 12 de setembro de 2026 com 200 consultas de prontidão.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b29e37872d44f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db2ddb383da4272" /><Relationship Type="http://schemas.openxmlformats.org/officeDocument/2006/relationships/slideLayout" Target="/ppt/slideLayouts/slideLayout1.xml" Id="R32444f6e6fee4a8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2444f6e6fee4a8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4833cbf03b4b7b" /><Relationship Type="http://schemas.openxmlformats.org/officeDocument/2006/relationships/notesSlide" Target="/ppt/notesSlides/notesSlide1.xml" Id="Re6abfa0929364a9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e0a59303244979" /><Relationship Type="http://schemas.openxmlformats.org/officeDocument/2006/relationships/notesSlide" Target="/ppt/notesSlides/notesSlide2.xml" Id="R88c14ffb1221441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98ccf44cbd4411" /><Relationship Type="http://schemas.openxmlformats.org/officeDocument/2006/relationships/notesSlide" Target="/ppt/notesSlides/notesSlide3.xml" Id="Rcd5cb346a3984ac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b0d9689ed04b1e" /><Relationship Type="http://schemas.openxmlformats.org/officeDocument/2006/relationships/notesSlide" Target="/ppt/notesSlides/notesSlide4.xml" Id="R09cc7d04079145f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4441c75b3c409b" /><Relationship Type="http://schemas.openxmlformats.org/officeDocument/2006/relationships/notesSlide" Target="/ppt/notesSlides/notesSlide5.xml" Id="R0d0aab336ab7483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b65fac3d5f4e17" /><Relationship Type="http://schemas.openxmlformats.org/officeDocument/2006/relationships/notesSlide" Target="/ppt/notesSlides/notesSlide6.xml" Id="R82bf26779ec34f0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cccdc26a654901" /><Relationship Type="http://schemas.openxmlformats.org/officeDocument/2006/relationships/notesSlide" Target="/ppt/notesSlides/notesSlide7.xml" Id="R1f957e0fce734ec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7cf8c4e7da40e5" /><Relationship Type="http://schemas.openxmlformats.org/officeDocument/2006/relationships/notesSlide" Target="/ppt/notesSlides/notesSlide8.xml" Id="Rba2ae1bb98a6427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f7ae0d85f943f9" /><Relationship Type="http://schemas.openxmlformats.org/officeDocument/2006/relationships/notesSlide" Target="/ppt/notesSlides/notesSlide9.xml" Id="R5f803fc990fb4c0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5708ddc21743ec" /><Relationship Type="http://schemas.openxmlformats.org/officeDocument/2006/relationships/notesSlide" Target="/ppt/notesSlides/notesSlide10.xml" Id="R4081c0e5f53348c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961660cdde4c91" /><Relationship Type="http://schemas.openxmlformats.org/officeDocument/2006/relationships/notesSlide" Target="/ppt/notesSlides/notesSlide11.xml" Id="Rd668e1d5d9d94fc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2cbcd0cbb14154" /><Relationship Type="http://schemas.openxmlformats.org/officeDocument/2006/relationships/notesSlide" Target="/ppt/notesSlides/notesSlide12.xml" Id="R2f25f64962e44bb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0e08ad33df41d7" /><Relationship Type="http://schemas.openxmlformats.org/officeDocument/2006/relationships/notesSlide" Target="/ppt/notesSlides/notesSlide13.xml" Id="R7552c386478b40e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c5d6c188474413" /><Relationship Type="http://schemas.openxmlformats.org/officeDocument/2006/relationships/notesSlide" Target="/ppt/notesSlides/notesSlide14.xml" Id="Rd8899dccd9604a6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65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81B7B2-6956-4DDA-83E3-434BDFAC2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857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Arquitetura de Integração</a:t>
            </a:r>
          </a:p>
          <a:p xmlns:a="http://schemas.openxmlformats.org/drawingml/2006/main">
            <a: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 Empresa de Serviços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23437A-DC49-4774-A91E-0A2A5AE0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14750"/>
            <a:ext cx="571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C8DFE2"/>
                </a:solidFill>
                <a:latin typeface="Arial"/>
                <a:ea typeface="Arial"/>
                <a:cs typeface="Arial"/>
              </a:rPr>
              <a:t>Projeto Aplicado  |  Cenário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D151B8-CAB8-40EE-A90C-19537E3E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238250"/>
            <a:ext cx="17145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3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572E54-AA30-4153-BB89-7EC224AC8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3400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Equipe do Projeto Aplicado</a:t>
            </a:r>
          </a:p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12 de setembro de 2026</a:t>
            </a:r>
          </a:p>
        </p:txBody>
      </p:sp>
    </p:spTree>
    <p:extLst>
      <p:ext uri="{BB962C8B-B14F-4D97-AF65-F5344CB8AC3E}">
        <p14:creationId xmlns:p14="http://schemas.microsoft.com/office/powerpoint/2010/main" val="916760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8DB50B-8884-43A3-A625-E095244B1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242845-A3EC-464E-99FC-F40EBF22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Cenário e problema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FDB689-93E4-4031-9582-A01DDC71E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9DC972-6FE8-439F-B139-4C771D68B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56197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Cinco sistemas corporativos com integrações insuficientes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Duplicidade e lançamentos manuais entre áreas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Falhas difíceis de rastrear e processos fragmentados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Primeira entrega exige arquitetura e três fluxos funcionando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E434D3-B1D3-409F-8B77-60F741C36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333500"/>
            <a:ext cx="1714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8BE992-C8B2-4BFC-A547-BA1EA6B6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38375"/>
            <a:ext cx="18097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Contratos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C1EE43-3353-44AF-A262-8E3D4D970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1714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C185A9-DDD8-4715-821F-CA69B4866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48125"/>
            <a:ext cx="18097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Atendimento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57E46F-A483-4724-9912-6891AA655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53000"/>
            <a:ext cx="1714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Processos</a:t>
            </a:r>
          </a:p>
        </p:txBody>
      </p:sp>
    </p:spTree>
    <p:extLst>
      <p:ext uri="{BB962C8B-B14F-4D97-AF65-F5344CB8AC3E}">
        <p14:creationId xmlns:p14="http://schemas.microsoft.com/office/powerpoint/2010/main" val="15233314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CFE254-6337-4F15-8D7E-73B8561C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B7C58D-83D5-48B9-BFA7-18DC406B1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Arquitetura atual AS 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E07B49-D5E4-45E7-8A5F-386453F4F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4A17BB-5C9B-4E72-B373-79FD8DB61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1619250" cy="809625"/>
          </a:xfrm>
          <a:prstGeom xmlns:a="http://schemas.openxmlformats.org/drawingml/2006/main" prst="roundRect">
            <a:avLst>
              <a:gd name="adj" fmla="val 16471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C070E5-17C4-41B9-80BC-B8E72021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00250"/>
            <a:ext cx="1714500" cy="809625"/>
          </a:xfrm>
          <a:prstGeom xmlns:a="http://schemas.openxmlformats.org/drawingml/2006/main" prst="roundRect">
            <a:avLst>
              <a:gd name="adj" fmla="val 16471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Contratos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328F7A-EDCB-44AF-9062-9E3418603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000250"/>
            <a:ext cx="1714500" cy="809625"/>
          </a:xfrm>
          <a:prstGeom xmlns:a="http://schemas.openxmlformats.org/drawingml/2006/main" prst="roundRect">
            <a:avLst>
              <a:gd name="adj" fmla="val 16471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E5E49D-28B0-4ECD-867E-645FEBA99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00250"/>
            <a:ext cx="1714500" cy="809625"/>
          </a:xfrm>
          <a:prstGeom xmlns:a="http://schemas.openxmlformats.org/drawingml/2006/main" prst="roundRect">
            <a:avLst>
              <a:gd name="adj" fmla="val 16471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Atendimento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BB8D74-4427-4AC9-A13F-2C0BC8300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000250"/>
            <a:ext cx="1428750" cy="809625"/>
          </a:xfrm>
          <a:prstGeom xmlns:a="http://schemas.openxmlformats.org/drawingml/2006/main" prst="roundRect">
            <a:avLst>
              <a:gd name="adj" fmla="val 16471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Processos</a:t>
            </a:r>
          </a:p>
        </p:txBody>
      </p:sp>
      <p:cxnSp>
        <p:nvCxnSpPr>
          <p:cNvPr id="23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381250" y="2405063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65D3A"/>
            </a:solidFill>
            <a:prstDash val="dash"/>
            <a:tailEnd type="arrow" w="sm" len="sm"/>
          </a:ln>
        </p:spPr>
      </p:cxnSp>
      <p:cxnSp>
        <p:nvCxnSpPr>
          <p:cNvPr id="2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762500" y="2405063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65D3A"/>
            </a:solidFill>
            <a:prstDash val="dash"/>
            <a:tailEnd type="arrow" w="sm" len="sm"/>
          </a:ln>
        </p:spPr>
      </p:cxnSp>
      <p:cxnSp>
        <p:nvCxnSpPr>
          <p:cNvPr id="25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143750" y="2405063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65D3A"/>
            </a:solidFill>
            <a:prstDash val="dash"/>
            <a:tailEnd type="arrow" w="sm" len="sm"/>
          </a:ln>
        </p:spPr>
      </p:cxnSp>
      <p:cxnSp>
        <p:nvCxnSpPr>
          <p:cNvPr id="26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9525000" y="2405063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65D3A"/>
            </a:solidFill>
            <a:prstDash val="dash"/>
            <a:tailEnd type="arrow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B9745C-A9F8-4EB4-B649-CAB52A1CA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3825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Premissa de modelagem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C42B1E-0459-4AC2-B186-31A5A418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29000"/>
            <a:ext cx="9810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Recadastro, planilhas ou integrações específicas ligam as áreas. O enunciado confirma os sistemas e os problemas gerais, mas não informa as interfaces atuais.</a:t>
            </a:r>
          </a:p>
        </p:txBody>
      </p:sp>
    </p:spTree>
    <p:extLst>
      <p:ext uri="{BB962C8B-B14F-4D97-AF65-F5344CB8AC3E}">
        <p14:creationId xmlns:p14="http://schemas.microsoft.com/office/powerpoint/2010/main" val="105462291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3A1856-C7A0-41CD-8280-F94B2B0D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9A5CD7-F700-4BD0-A520-72A659B5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Requisitos prioritários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A3E926-DECD-4079-8D65-1F0C15C03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68C779-1A18-4860-92A9-FB67A29F8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381125"/>
            <a:ext cx="66675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01 a RF 02: identidade global e contrato sem recadastro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03: ativação cria cobrança e onboarding sem duplicidade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04: chamado consulta contrato, serviço e SLA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05 a RF 07: propagação cadastral, correlação e reprocessamento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D2DC78-A9F6-4EB8-BC92-38AB3444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38112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Qualidade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375CDE-6019-4E37-83CC-72B712D2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52625"/>
            <a:ext cx="3143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Interoperabilidade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Confiabilidade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Segurança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Observabilidade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Manutenibilidade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Disponibilidade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Desempenho</a:t>
            </a:r>
          </a:p>
        </p:txBody>
      </p:sp>
    </p:spTree>
    <p:extLst>
      <p:ext uri="{BB962C8B-B14F-4D97-AF65-F5344CB8AC3E}">
        <p14:creationId xmlns:p14="http://schemas.microsoft.com/office/powerpoint/2010/main" val="1884630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3B8B6A-82F0-4D28-9A80-0059267C7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5A2EAE-810F-45BF-B6C3-9364AFE50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Decisão arquitetural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D89B7A-0D4F-4005-9263-3E4A62A9E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BFC69A-D98B-441C-9C3C-360A7E274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381125"/>
            <a:ext cx="952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SOA pragmática em monólito modular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21DE38-A5A9-4403-A04C-9019A7606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28875"/>
            <a:ext cx="9525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Portas e adaptadores preservam as fronteiras dos contextos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REST atende respostas imediatas; eventos representam fatos confirmados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PostgreSQL e RabbitMQ sustentam a demonstração local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Extração futura depende de métricas de escala, disponibilidade ou cadência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056131-A520-48DE-AD27-59A543F42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61975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ADR 001 aceito para o protótipo acadêmico</a:t>
            </a:r>
          </a:p>
        </p:txBody>
      </p:sp>
    </p:spTree>
    <p:extLst>
      <p:ext uri="{BB962C8B-B14F-4D97-AF65-F5344CB8AC3E}">
        <p14:creationId xmlns:p14="http://schemas.microsoft.com/office/powerpoint/2010/main" val="14711408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CE1C99-0A43-4975-B77D-EA62ECACF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F0C37E-AF9C-4D63-85FB-96ED3A308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Arquitetura proposta TO BE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05763B-20C5-4255-8E00-350D59BB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0492D4-3CAB-499A-AA60-29E902519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190625"/>
            <a:ext cx="20002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API REST v1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32784C-120B-4959-80E7-E97E3811E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17145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09C1C7-F2E5-4D68-96C5-BC5099143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714625"/>
            <a:ext cx="17145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Contracts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D59F1D-F7D2-4CB7-ABD2-8737C2700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14625"/>
            <a:ext cx="17145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0142FF-F058-49E4-ADA4-6F9C7BA87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714625"/>
            <a:ext cx="17145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Support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E13A0F-280B-4FB3-B884-7781CB6E0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714625"/>
            <a:ext cx="17145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Workflow</a:t>
            </a:r>
          </a:p>
        </p:txBody>
      </p:sp>
      <p:cxnSp>
        <p:nvCxnSpPr>
          <p:cNvPr id="31" name=""/>
          <p:cNvCxnSpPr>
            <a:stCxn xmlns:a="http://schemas.openxmlformats.org/drawingml/2006/main" id="4" idx="2"/>
            <a:endCxn xmlns:a="http://schemas.openxmlformats.org/drawingml/2006/main" id="5" idx="0"/>
          </p:cNvCxnSpPr>
          <p:nvPr/>
        </p:nvCxnSpPr>
        <p:spPr>
          <a:xfrm xmlns:a="http://schemas.openxmlformats.org/drawingml/2006/main" flipH="1">
            <a:off x="1619250" y="1857375"/>
            <a:ext cx="4476750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27C83"/>
            </a:solidFill>
            <a:prstDash val="solid"/>
            <a:tailEnd type="arrow" w="sm" len="sm"/>
          </a:ln>
        </p:spPr>
      </p:cxnSp>
      <p:cxnSp>
        <p:nvCxnSpPr>
          <p:cNvPr id="32" name=""/>
          <p:cNvCxnSpPr>
            <a:stCxn xmlns:a="http://schemas.openxmlformats.org/drawingml/2006/main" id="4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3857625" y="1857375"/>
            <a:ext cx="2238375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27C83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4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6096000" y="1857375"/>
            <a:ext cx="0" cy="8572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7C83"/>
            </a:solidFill>
            <a:prstDash val="solid"/>
            <a:tailEnd type="arrow" w="sm" len="sm"/>
          </a:ln>
        </p:spPr>
      </p:cxnSp>
      <p:cxnSp>
        <p:nvCxnSpPr>
          <p:cNvPr id="34" name=""/>
          <p:cNvCxnSpPr>
            <a:stCxn xmlns:a="http://schemas.openxmlformats.org/drawingml/2006/main" id="4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6096000" y="1857375"/>
            <a:ext cx="2238375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27C83"/>
            </a:solidFill>
            <a:prstDash val="solid"/>
            <a:tailEnd type="arrow" w="sm" len="sm"/>
          </a:ln>
        </p:spPr>
      </p:cxnSp>
      <p:cxnSp>
        <p:nvCxnSpPr>
          <p:cNvPr id="35" name=""/>
          <p:cNvCxnSpPr>
            <a:stCxn xmlns:a="http://schemas.openxmlformats.org/drawingml/2006/main" id="4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6096000" y="1857375"/>
            <a:ext cx="4476750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27C83"/>
            </a:solidFill>
            <a:prstDash val="solid"/>
            <a:tailEnd type="arrow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0D404C-2960-4F4D-B9A3-6F23D5C0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429125"/>
            <a:ext cx="4762500" cy="904875"/>
          </a:xfrm>
          <a:prstGeom xmlns:a="http://schemas.openxmlformats.org/drawingml/2006/main" prst="roundRect">
            <a:avLst>
              <a:gd name="adj" fmla="val 14737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Integration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Outbox  Inbox  Auditoria</a:t>
            </a:r>
          </a:p>
        </p:txBody>
      </p:sp>
      <p:cxnSp>
        <p:nvCxnSpPr>
          <p:cNvPr id="37" name=""/>
          <p:cNvCxnSpPr>
            <a:stCxn xmlns:a="http://schemas.openxmlformats.org/drawingml/2006/main" id="5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1619250" y="3457575"/>
            <a:ext cx="4476750" cy="9715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4288">
            <a:solidFill>
              <a:srgbClr val="657786"/>
            </a:solidFill>
            <a:prstDash val="solid"/>
          </a:ln>
        </p:spPr>
      </p:cxnSp>
      <p:cxnSp>
        <p:nvCxnSpPr>
          <p:cNvPr id="38" name=""/>
          <p:cNvCxnSpPr>
            <a:stCxn xmlns:a="http://schemas.openxmlformats.org/drawingml/2006/main" id="6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3857625" y="3457575"/>
            <a:ext cx="2238375" cy="9715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4288">
            <a:solidFill>
              <a:srgbClr val="657786"/>
            </a:solidFill>
            <a:prstDash val="solid"/>
          </a:ln>
        </p:spPr>
      </p:cxnSp>
      <p:cxnSp>
        <p:nvCxnSpPr>
          <p:cNvPr id="39" name=""/>
          <p:cNvCxnSpPr>
            <a:stCxn xmlns:a="http://schemas.openxmlformats.org/drawingml/2006/main" id="7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6096000" y="3457575"/>
            <a:ext cx="0" cy="97155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57786"/>
            </a:solidFill>
            <a:prstDash val="solid"/>
          </a:ln>
        </p:spPr>
      </p:cxnSp>
      <p:cxnSp>
        <p:nvCxnSpPr>
          <p:cNvPr id="40" name=""/>
          <p:cNvCxnSpPr>
            <a:stCxn xmlns:a="http://schemas.openxmlformats.org/drawingml/2006/main" id="8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 flipH="1">
            <a:off x="6096000" y="3457575"/>
            <a:ext cx="2238375" cy="9715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4288">
            <a:solidFill>
              <a:srgbClr val="657786"/>
            </a:solidFill>
            <a:prstDash val="solid"/>
          </a:ln>
        </p:spPr>
      </p:cxnSp>
      <p:cxnSp>
        <p:nvCxnSpPr>
          <p:cNvPr id="41" name=""/>
          <p:cNvCxnSpPr>
            <a:stCxn xmlns:a="http://schemas.openxmlformats.org/drawingml/2006/main" id="9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 flipH="1">
            <a:off x="6096000" y="3457575"/>
            <a:ext cx="4476750" cy="9715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4288">
            <a:solidFill>
              <a:srgbClr val="657786"/>
            </a:solidFill>
            <a:prstDash val="soli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B03D74-A28E-4DBF-AE69-664B9BA7F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619750"/>
            <a:ext cx="657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Um processo, fronteiras preservadas por interfaces públicas</a:t>
            </a:r>
          </a:p>
        </p:txBody>
      </p:sp>
    </p:spTree>
    <p:extLst>
      <p:ext uri="{BB962C8B-B14F-4D97-AF65-F5344CB8AC3E}">
        <p14:creationId xmlns:p14="http://schemas.microsoft.com/office/powerpoint/2010/main" val="80069731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99B5B4-57D5-4DD9-B184-B695E921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CF0CD4-B21A-4A88-99C2-E121886E8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Propriedade dos dados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3AA869-956F-43CE-B39D-2DF9C645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1364B0-3D6D-4233-9F57-BF7703D4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382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B206F1-4D69-495F-AC17-222895815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2382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Cliente, contato, consentimento e oportunidade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DB17A6-94B6-4DA4-BCFE-F7192E9BD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193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Contracts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C9BF7E-2396-4DED-8DA0-9706C7F3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193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Contrato, itens, vigência, plano e SLA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A7202A-AE82-49C4-BDA0-4D45DC964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003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Finance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DFBDF6-17FD-4F9A-BA99-468EBC391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8003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Cobrança, vencimento, pagamento e inadimplência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298992-D9E2-43D4-81FA-345842C9E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814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Support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619DF6-8ACF-4B29-9204-AFC1491C8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5814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Chamado, prioridade, histórico e resolução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459BE6-0A7D-4380-8A9E-49DA8690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624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Workflow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31D201-E436-4686-AF30-836E316B5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3624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Instância, tarefa, responsável, prazo e estado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A7CDEE-FAE1-409B-92C9-7C56DFDC4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435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Integration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813162-8D3B-400E-AB1A-1D7E7DD3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1435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IDs legados, correlação, outbox, inbox e falhas</a:t>
            </a:r>
          </a:p>
        </p:txBody>
      </p:sp>
    </p:spTree>
    <p:extLst>
      <p:ext uri="{BB962C8B-B14F-4D97-AF65-F5344CB8AC3E}">
        <p14:creationId xmlns:p14="http://schemas.microsoft.com/office/powerpoint/2010/main" val="138782370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90C2AF-50A2-4380-A8E4-CA301C83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3E34D7-85F6-4A21-80CD-9790D3630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Fluxo F1 Cliente para contrato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7A7E04-8CE5-40CD-B7D3-E6E270FD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832D48-ECF0-4FE8-8136-DDAB4981D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209550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cliente elegível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87F9BD-6403-43E8-867E-28B03CA82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33625"/>
            <a:ext cx="23812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POST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/contracts/drafts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E42AA0-5DB0-41BB-9B5B-6738ABE96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33625"/>
            <a:ext cx="23812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Contracts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rascunho DRAFT</a:t>
            </a:r>
          </a:p>
        </p:txBody>
      </p:sp>
      <p:cxnSp>
        <p:nvCxnSpPr>
          <p:cNvPr id="17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048000" y="28575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18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6477000" y="2857500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DE44CD-E42E-4062-9561-42F66BF6F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191000"/>
            <a:ext cx="7905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Idempotency Key devolve o mesmo contractId em uma repetição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D53B3D-07DC-43B5-9B18-B106ED3BA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095875"/>
            <a:ext cx="590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Resultado testado: rascunho sem recadastro</a:t>
            </a:r>
          </a:p>
        </p:txBody>
      </p:sp>
    </p:spTree>
    <p:extLst>
      <p:ext uri="{BB962C8B-B14F-4D97-AF65-F5344CB8AC3E}">
        <p14:creationId xmlns:p14="http://schemas.microsoft.com/office/powerpoint/2010/main" val="117013131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5575D7-70B7-4B3B-9057-E057CEA8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DFC777-67BC-4F60-8EE7-D68510CA0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Fluxo F2 Ativação cobrança e onboarding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C008E6-F57B-4888-9FA6-48F035B16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79159F-03AB-462D-A19C-B0328B8E4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19050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Contracts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ACTIVE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B1BF9-2835-47D9-90EB-ADE2BF27F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476500"/>
            <a:ext cx="2476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Outbox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ContractActivated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92400D-5236-41C2-9285-D65104B2A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714500"/>
            <a:ext cx="209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1 cobrança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31F575-2668-4C41-9410-4B854F5DE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29000"/>
            <a:ext cx="209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Workflow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1 onboarding</a:t>
            </a:r>
          </a:p>
        </p:txBody>
      </p:sp>
      <p:cxnSp>
        <p:nvCxnSpPr>
          <p:cNvPr id="1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667000" y="2952750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2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6000750" y="2143125"/>
            <a:ext cx="1333500" cy="8096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21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000750" y="2952750"/>
            <a:ext cx="1333500" cy="9048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5D2537-D9D7-4652-BF63-3027A84CD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48250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Inbox e restrições únicas impedem efeitos duplicados</a:t>
            </a:r>
          </a:p>
        </p:txBody>
      </p:sp>
    </p:spTree>
    <p:extLst>
      <p:ext uri="{BB962C8B-B14F-4D97-AF65-F5344CB8AC3E}">
        <p14:creationId xmlns:p14="http://schemas.microsoft.com/office/powerpoint/2010/main" val="10272259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8E41BA-C591-4D8A-850A-103B38129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21B21B-3025-4E23-A8CE-22EA6B29D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Fluxo F3 Chamado com SLA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8D1D6C-EC4D-4B70-8DEC-C0CB1BB79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2042C3-B929-4982-A5C4-A78428F98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2095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Support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abrir chamado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F5EDB3-0504-4C45-8F79-C9CFD858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524000"/>
            <a:ext cx="2476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Contracts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elegibilidade e SLA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D6D56F-FB96-4950-9BE5-387EEADA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76625"/>
            <a:ext cx="2476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Ticket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OPEN ou PENDING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2FB0F4-690D-493A-AD44-DF3670D8C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76625"/>
            <a:ext cx="219075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Workflow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resolução</a:t>
            </a:r>
          </a:p>
        </p:txBody>
      </p:sp>
      <p:cxnSp>
        <p:nvCxnSpPr>
          <p:cNvPr id="1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2857500" y="2000250"/>
            <a:ext cx="1047750" cy="8572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20" name=""/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5143500" y="2476500"/>
            <a:ext cx="0" cy="10001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2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381750" y="3952875"/>
            <a:ext cx="1428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464EC5-4EBC-41A2-A5DC-A09EC7501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387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Indisponibilidade preserva a solicitação para reconciliação</a:t>
            </a:r>
          </a:p>
        </p:txBody>
      </p:sp>
    </p:spTree>
    <p:extLst>
      <p:ext uri="{BB962C8B-B14F-4D97-AF65-F5344CB8AC3E}">
        <p14:creationId xmlns:p14="http://schemas.microsoft.com/office/powerpoint/2010/main" val="161956538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CCE6DD-C02D-45E7-A6F1-562FE3104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F06204-AF8D-409F-9AC7-8CD2598EE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Interoperabilidade e contratos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4C82F2-7BDE-4E93-B735-DB8653FF8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B54480-1183-4B3B-9DA7-F01B04493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381125"/>
            <a:ext cx="685800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UUID global com identificadores legados associados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JSON UTF 8, UTC ISO 8601 e moeda explícita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OpenAPI para REST e AsyncAPI para eventos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Fonte oficial vence; divergência fica auditada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Mudança incompatível cria uma nova versão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324263-33A7-4301-B6B2-519C62B7D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333500"/>
            <a:ext cx="2381250" cy="37147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eventId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eventType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eventVersion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occurredAt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correlationId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causationId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producer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payload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D1BAC5-9EA9-481B-A051-AAA7DED3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28637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Envelope obrigatório</a:t>
            </a:r>
          </a:p>
        </p:txBody>
      </p:sp>
    </p:spTree>
    <p:extLst>
      <p:ext uri="{BB962C8B-B14F-4D97-AF65-F5344CB8AC3E}">
        <p14:creationId xmlns:p14="http://schemas.microsoft.com/office/powerpoint/2010/main" val="35515850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E38623-3C28-4FC9-AF45-7C5CF6C39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07D7CC-D9B4-4F8E-8E25-EC19B6A8E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Confiabilidade segurança e observabilidade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51B61B-21C3-4050-9EF9-63F06DF62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9B7D31-9DB4-4D61-9906-545437023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Confiabilidade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8B1AEB-BAC8-4789-9ACD-F6614570E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002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Outbox e inbox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Idempotency Key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Fila de falha e reprocessamento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034AAA-932D-4B83-93B9-5A3C54665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381125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Segurança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70ED06-ABA5-4C58-9CD1-80B1C6241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002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OIDC simulado e RBAC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Validação na fronteira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Dados mínimos em logs e eventos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6C4AB1-A17D-4A7F-B904-8752EC426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3811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Observabilidade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E7C952-28D2-44C8-91AD-471E1CBE9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Correlação ponta a ponta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Logs JSON e métricas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Health checks e auditoria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913DD0-43D3-4037-A338-6B41CF855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10125"/>
            <a:ext cx="8858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Falha permanente testada após três tentativas e reprocessamento auditado</a:t>
            </a:r>
          </a:p>
        </p:txBody>
      </p:sp>
    </p:spTree>
    <p:extLst>
      <p:ext uri="{BB962C8B-B14F-4D97-AF65-F5344CB8AC3E}">
        <p14:creationId xmlns:p14="http://schemas.microsoft.com/office/powerpoint/2010/main" val="177671736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084CF8-88A1-47D3-BD05-41CA9D05E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00B9CF-09CF-4A07-A915-78A10E3C7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Evolução e viabilidade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39E806-7023-46C5-A666-4879BBC95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9D0A42-CA7E-416F-B9EC-E290E88F5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68580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Novos sistemas entram por adaptadores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Campos opcionais permitem evolução compatível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API sem estado e consumidores por fila permitem escala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Extração de módulo exige métricas e novo ADR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Docker Compose limita custo da demonstração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D404C2-04E4-4F20-AA55-51CB63AE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381125"/>
            <a:ext cx="228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Indicadores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BF8681-ABAE-4789-B11D-C1656531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95500"/>
            <a:ext cx="31432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Tempo de ativação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Recadastro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SLA incorreto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Falhas por integração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Tempo de diagnóstico</a:t>
            </a:r>
          </a:p>
        </p:txBody>
      </p:sp>
    </p:spTree>
    <p:extLst>
      <p:ext uri="{BB962C8B-B14F-4D97-AF65-F5344CB8AC3E}">
        <p14:creationId xmlns:p14="http://schemas.microsoft.com/office/powerpoint/2010/main" val="185870211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5F3B1E-2443-4929-9FED-E4EEA9A1E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E4A04D-423C-4B8F-AC13-E2E70453E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Demonstração e resultados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EAD8C5-2F16-4DA8-BE9D-46E5B992A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1D7621-FB61-49FD-A156-F815DB4C2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81125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11 testes aprovados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AA9F35-A24C-41FD-900F-613C95F74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381125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p95  4,75 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002D2A-E02D-4243-8AE0-6EE8E7D54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381250"/>
            <a:ext cx="857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1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12B"/>
                </a:solidFill>
                <a:latin typeface="Arial"/>
                <a:ea typeface="Arial"/>
                <a:cs typeface="Arial"/>
              </a:rPr>
              <a:t>F1 cria rascunho sem recadastro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1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12B"/>
                </a:solidFill>
                <a:latin typeface="Arial"/>
                <a:ea typeface="Arial"/>
                <a:cs typeface="Arial"/>
              </a:rPr>
              <a:t>F2 cria uma cobrança e um onboarding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1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12B"/>
                </a:solidFill>
                <a:latin typeface="Arial"/>
                <a:ea typeface="Arial"/>
                <a:cs typeface="Arial"/>
              </a:rPr>
              <a:t>F3 registra SLA e inicia resolução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1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12B"/>
                </a:solidFill>
                <a:latin typeface="Arial"/>
                <a:ea typeface="Arial"/>
                <a:cs typeface="Arial"/>
              </a:rPr>
              <a:t>Falha controlada preserva e reconcilia o chamado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1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12B"/>
                </a:solidFill>
                <a:latin typeface="Arial"/>
                <a:ea typeface="Arial"/>
                <a:cs typeface="Arial"/>
              </a:rPr>
              <a:t>Rastreabilidade reúne auditoria e eventos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D5B6FA-A2F7-4D9D-87C0-0EE27EE2F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61975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Premissas do AS IS seguem para validação com a organização</a:t>
            </a:r>
          </a:p>
        </p:txBody>
      </p:sp>
    </p:spTree>
    <p:extLst>
      <p:ext uri="{BB962C8B-B14F-4D97-AF65-F5344CB8AC3E}">
        <p14:creationId xmlns:p14="http://schemas.microsoft.com/office/powerpoint/2010/main" val="2416166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2026-09-13T01:15:58.6100000Z</dcterms:created>
  <dcterms:modified xsi:type="dcterms:W3CDTF">2026-09-13T01:15:58.6100000Z</dcterms:modified>
</coreProperties>
</file>