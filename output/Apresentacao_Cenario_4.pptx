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349b1aa0484f3f" /><Relationship Type="http://schemas.openxmlformats.org/officeDocument/2006/relationships/extended-properties" Target="/docProps/app.xml" Id="Rc2f131bb25984279" /><Relationship Type="http://schemas.openxmlformats.org/officeDocument/2006/relationships/officeDocument" Target="/ppt/presentation.xml" Id="Rfecf45febad546f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fed83e686440b7"/>
  </p:sldMasterIdLst>
  <p:notesMasterIdLst>
    <p:notesMasterId xmlns:r="http://schemas.openxmlformats.org/officeDocument/2006/relationships" r:id="Rec5116ca5b6d4406"/>
  </p:notesMasterIdLst>
  <p:sldIdLst>
    <p:sldId xmlns:r="http://schemas.openxmlformats.org/officeDocument/2006/relationships" id="256" r:id="R70f2fb8122a143e3"/>
    <p:sldId xmlns:r="http://schemas.openxmlformats.org/officeDocument/2006/relationships" id="257" r:id="R2b8105c23204438c"/>
    <p:sldId xmlns:r="http://schemas.openxmlformats.org/officeDocument/2006/relationships" id="258" r:id="R7363dd76906e44b6"/>
    <p:sldId xmlns:r="http://schemas.openxmlformats.org/officeDocument/2006/relationships" id="259" r:id="R3bbe767dbc964fbe"/>
    <p:sldId xmlns:r="http://schemas.openxmlformats.org/officeDocument/2006/relationships" id="260" r:id="R76d7ecbf96f64751"/>
    <p:sldId xmlns:r="http://schemas.openxmlformats.org/officeDocument/2006/relationships" id="261" r:id="Ra64731bf21ca4775"/>
    <p:sldId xmlns:r="http://schemas.openxmlformats.org/officeDocument/2006/relationships" id="262" r:id="Rfd4991d09e5c4c83"/>
    <p:sldId xmlns:r="http://schemas.openxmlformats.org/officeDocument/2006/relationships" id="263" r:id="R2f1bbfb9e5794c92"/>
    <p:sldId xmlns:r="http://schemas.openxmlformats.org/officeDocument/2006/relationships" id="264" r:id="R25282741b1fc49b8"/>
    <p:sldId xmlns:r="http://schemas.openxmlformats.org/officeDocument/2006/relationships" id="265" r:id="Rb581c503e40f4d0c"/>
    <p:sldId xmlns:r="http://schemas.openxmlformats.org/officeDocument/2006/relationships" id="266" r:id="R22f5705bcf55436d"/>
    <p:sldId xmlns:r="http://schemas.openxmlformats.org/officeDocument/2006/relationships" id="267" r:id="Rd38aa7207c77460a"/>
    <p:sldId xmlns:r="http://schemas.openxmlformats.org/officeDocument/2006/relationships" id="268" r:id="Rf558f02d4c144158"/>
    <p:sldId xmlns:r="http://schemas.openxmlformats.org/officeDocument/2006/relationships" id="269" r:id="R7c93be25e1bb42db"/>
    <p:sldId xmlns:r="http://schemas.openxmlformats.org/officeDocument/2006/relationships" id="270" r:id="Rcc4ed3db59194c39"/>
    <p:sldId xmlns:r="http://schemas.openxmlformats.org/officeDocument/2006/relationships" id="271" r:id="R8d1bd44f480847ed"/>
    <p:sldId xmlns:r="http://schemas.openxmlformats.org/officeDocument/2006/relationships" id="272" r:id="R65a23ba236764be3"/>
    <p:sldId xmlns:r="http://schemas.openxmlformats.org/officeDocument/2006/relationships" id="273" r:id="Ra5737860e902456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fa717bc23e4f02" /><Relationship Type="http://schemas.openxmlformats.org/officeDocument/2006/relationships/slideMaster" Target="/ppt/slideMasters/slideMaster1.xml" Id="Rcffed83e686440b7" /><Relationship Type="http://schemas.openxmlformats.org/officeDocument/2006/relationships/notesMaster" Target="/ppt/notesMasters/notesMaster1.xml" Id="Rec5116ca5b6d4406" /><Relationship Type="http://schemas.openxmlformats.org/officeDocument/2006/relationships/presProps" Target="/ppt/presProps.xml" Id="R8496d6c2aef24b78" /><Relationship Type="http://schemas.openxmlformats.org/officeDocument/2006/relationships/tableStyles" Target="/ppt/tableStyles.xml" Id="Rf48e46cb40344b38" /><Relationship Type="http://schemas.openxmlformats.org/officeDocument/2006/relationships/slide" Target="/ppt/slides/slide1.xml" Id="R70f2fb8122a143e3" /><Relationship Type="http://schemas.openxmlformats.org/officeDocument/2006/relationships/slide" Target="/ppt/slides/slide2.xml" Id="R2b8105c23204438c" /><Relationship Type="http://schemas.openxmlformats.org/officeDocument/2006/relationships/slide" Target="/ppt/slides/slide3.xml" Id="R7363dd76906e44b6" /><Relationship Type="http://schemas.openxmlformats.org/officeDocument/2006/relationships/slide" Target="/ppt/slides/slide4.xml" Id="R3bbe767dbc964fbe" /><Relationship Type="http://schemas.openxmlformats.org/officeDocument/2006/relationships/slide" Target="/ppt/slides/slide5.xml" Id="R76d7ecbf96f64751" /><Relationship Type="http://schemas.openxmlformats.org/officeDocument/2006/relationships/slide" Target="/ppt/slides/slide6.xml" Id="Ra64731bf21ca4775" /><Relationship Type="http://schemas.openxmlformats.org/officeDocument/2006/relationships/slide" Target="/ppt/slides/slide7.xml" Id="Rfd4991d09e5c4c83" /><Relationship Type="http://schemas.openxmlformats.org/officeDocument/2006/relationships/slide" Target="/ppt/slides/slide8.xml" Id="R2f1bbfb9e5794c92" /><Relationship Type="http://schemas.openxmlformats.org/officeDocument/2006/relationships/slide" Target="/ppt/slides/slide9.xml" Id="R25282741b1fc49b8" /><Relationship Type="http://schemas.openxmlformats.org/officeDocument/2006/relationships/slide" Target="/ppt/slides/slide10.xml" Id="Rb581c503e40f4d0c" /><Relationship Type="http://schemas.openxmlformats.org/officeDocument/2006/relationships/slide" Target="/ppt/slides/slide11.xml" Id="R22f5705bcf55436d" /><Relationship Type="http://schemas.openxmlformats.org/officeDocument/2006/relationships/slide" Target="/ppt/slides/slide12.xml" Id="Rd38aa7207c77460a" /><Relationship Type="http://schemas.openxmlformats.org/officeDocument/2006/relationships/slide" Target="/ppt/slides/slide13.xml" Id="Rf558f02d4c144158" /><Relationship Type="http://schemas.openxmlformats.org/officeDocument/2006/relationships/slide" Target="/ppt/slides/slide14.xml" Id="R7c93be25e1bb42db" /><Relationship Type="http://schemas.openxmlformats.org/officeDocument/2006/relationships/slide" Target="/ppt/slides/slide15.xml" Id="Rcc4ed3db59194c39" /><Relationship Type="http://schemas.openxmlformats.org/officeDocument/2006/relationships/slide" Target="/ppt/slides/slide16.xml" Id="R8d1bd44f480847ed" /><Relationship Type="http://schemas.openxmlformats.org/officeDocument/2006/relationships/slide" Target="/ppt/slides/slide17.xml" Id="R65a23ba236764be3" /><Relationship Type="http://schemas.openxmlformats.org/officeDocument/2006/relationships/slide" Target="/ppt/slides/slide18.xml" Id="Ra5737860e902456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d618551b8344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f77045638b426b" /><Relationship Type="http://schemas.openxmlformats.org/officeDocument/2006/relationships/notesMaster" Target="/ppt/notesMasters/notesMaster1.xml" Id="R92dd9e1d1cfb4e6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90c1d114a944069" /><Relationship Type="http://schemas.openxmlformats.org/officeDocument/2006/relationships/notesMaster" Target="/ppt/notesMasters/notesMaster1.xml" Id="R5a39039ccfd74d5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b2c5e36a4bb47df" /><Relationship Type="http://schemas.openxmlformats.org/officeDocument/2006/relationships/notesMaster" Target="/ppt/notesMasters/notesMaster1.xml" Id="Rfa3cf4813d4c4a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9e50359f0c4a87" /><Relationship Type="http://schemas.openxmlformats.org/officeDocument/2006/relationships/notesMaster" Target="/ppt/notesMasters/notesMaster1.xml" Id="Ra02815c1c95548e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09c4aa304da4829" /><Relationship Type="http://schemas.openxmlformats.org/officeDocument/2006/relationships/notesMaster" Target="/ppt/notesMasters/notesMaster1.xml" Id="R8ec7de5fb6f84c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b95c76cf9044e6" /><Relationship Type="http://schemas.openxmlformats.org/officeDocument/2006/relationships/notesMaster" Target="/ppt/notesMasters/notesMaster1.xml" Id="R003c4ed2d40042b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2afe745e4514dae" /><Relationship Type="http://schemas.openxmlformats.org/officeDocument/2006/relationships/notesMaster" Target="/ppt/notesMasters/notesMaster1.xml" Id="R677ee26b7c05408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de6dbe2fddf49be" /><Relationship Type="http://schemas.openxmlformats.org/officeDocument/2006/relationships/notesMaster" Target="/ppt/notesMasters/notesMaster1.xml" Id="R2d85fd32b33e48e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0988be1792d4c46" /><Relationship Type="http://schemas.openxmlformats.org/officeDocument/2006/relationships/notesMaster" Target="/ppt/notesMasters/notesMaster1.xml" Id="R86aa6092b5ec48e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2c4b0b89da94b94" /><Relationship Type="http://schemas.openxmlformats.org/officeDocument/2006/relationships/notesMaster" Target="/ppt/notesMasters/notesMaster1.xml" Id="R98e42dc4fd2940f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75f732cfe314c1f" /><Relationship Type="http://schemas.openxmlformats.org/officeDocument/2006/relationships/notesMaster" Target="/ppt/notesMasters/notesMaster1.xml" Id="Raf4a05a4b3764b3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0ad9410cf3f4dc6" /><Relationship Type="http://schemas.openxmlformats.org/officeDocument/2006/relationships/notesMaster" Target="/ppt/notesMasters/notesMaster1.xml" Id="R5519af86163243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8f93355034c400f" /><Relationship Type="http://schemas.openxmlformats.org/officeDocument/2006/relationships/notesMaster" Target="/ppt/notesMasters/notesMaster1.xml" Id="Rb11115aa94294ce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50c4f25b0654726" /><Relationship Type="http://schemas.openxmlformats.org/officeDocument/2006/relationships/notesMaster" Target="/ppt/notesMasters/notesMaster1.xml" Id="Rbac8d43274f0468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57eb9875b8947ee" /><Relationship Type="http://schemas.openxmlformats.org/officeDocument/2006/relationships/notesMaster" Target="/ppt/notesMasters/notesMaster1.xml" Id="Re4a1709ded8a4ba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8002c1dfbe04245" /><Relationship Type="http://schemas.openxmlformats.org/officeDocument/2006/relationships/notesMaster" Target="/ppt/notesMasters/notesMaster1.xml" Id="R8f9eb2df79534fe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0dc27b4ba62422e" /><Relationship Type="http://schemas.openxmlformats.org/officeDocument/2006/relationships/notesMaster" Target="/ppt/notesMasters/notesMaster1.xml" Id="Rf42bb1fa7990492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fe3a757f33d4f15" /><Relationship Type="http://schemas.openxmlformats.org/officeDocument/2006/relationships/notesMaster" Target="/ppt/notesMasters/notesMaster1.xml" Id="R8f29b5488b36411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 principal: Guia.pdf, enunciado acadêmico ArchCorp, 2026, 13 páginas. Cenário 4 aplicado a uma locadora fictícia inspirada na Localiza, com dados sintéticos. Referência técnica: main f1669d78f01e2d279b3de60a999ed778e6c9916e, PR #75 de 25/10/2026, https://github.com/Roger-Quinelato/projetoAplicado7/pull/75, commit consultado localmente. Marcos previstos conforme orientação da entrega. Autoria e contribuições aguardam informação da equipe. Não há declaração de aceite docente.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enunciado acadêmico, páginas 1 a 3. Produtos, tecnologias e fluxos atuais específicos permanecem como premissas a validar.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docs/arquitetura/AS_IS.md e enunciado acadêmico. A sequência ilustrada é uma hipótese explícita para a demonstração.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PLANO_IMPLEMENTACAO_CENARIO_4.md, seção 5, e docs/MATRIZ_RASTREABILIDADE.md.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docs/adr/ADR-001-integracao-empresa-de-servicos.md. Opções consideradas: REST ponto a ponto, microsserviços completos, ESB central e monólito modular orientado a serviços.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docs/arquitetura/TO_BE.md. Os conectores representam dependências por portas e eventos, não acesso direto a tabelas.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relatório, seção 4.4, e docs/arquitetura/AS_IS.md. Categorias são o papel típico de cada sistema; produtos reais não foram informados.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AGENTS.md, tabela de propriedade dos dados, e plano de implementação, seção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docs/api/openapi.yaml, docs/events/asyncapi.yaml e docs/EXEMPLOS_API.md.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docs/INTEGRACOES.md, scripts/demo_f1.py e evidência histórica consolidada em docs/EVIDENCIAS_VALIDACAO.md (20/10/2026). Não reexecutado em 28/10. ADR-006 permanece Proposto, aguardando aceite do responsável. A chamada no mesmo processo não tem interrupção por timeout de rede.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docs/INTEGRACOES.md, scripts/demo_f2.py e evidência histórica consolidada em docs/EVIDENCIAS_VALIDACAO.md (20/10/2026). Não reexecutado em 28/10. O despachante invoca os consumidores internos; RabbitMQ recebe uma cópia opcional e não executa esses consumidores.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docs/INTEGRACOES.md, scripts/demo_f3.py e evidência histórica consolidada em docs/EVIDENCIAS_VALIDACAO.md (20/10/2026). Revisão de código e reprodução informadas pela equipe em 28/10: se TicketOpened falha e TicketResolved é consumido antes da recuperação, handle_ticket_resolved retorna sem processo; a abertura reprocessada depois cria STARTED embora o chamado esteja RESOLVED, sem pendências restantes que assegurem a convergência (src/archcorp/workflow/service.py, handle_ticket_resolved). Defeito não corrigido nesta revisão documental. A reconciliação de elegibilidade depende de ação explícita, sem agendador. Os resultados históricos não comprovam todos os casos de ordenação de eventos.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docs/events/asyncapi.yaml, docs/api/openapi.yaml e plano de implementação, seção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docs/ATRIBUTOS_QUALIDADE.md (nove atributos com necessidade, risco, estratégia, resultado e evidência) e relatório, seção 4.8. Desempenho histórico de 20/10, local, PostgreSQL 16, 60 clientes e 100 amostras por consulta em 10 consultas de negócio. Não representa hospedagem pública nem medição na main f1669d7.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docs/ATRIBUTOS_QUALIDADE.md e docs/EVIDENCIAS_VALIDACAO.md. Correções de segurança: main f1669d7, PR #75, 25/10/2026, https://github.com/Roger-Quinelato/projetoAplicado7/pull/75, registro local do commit. Credencial com caracteres não ASCII comparada em bytes, exceção inesperada registra só errorType. FAILED é estado persistido da aplicação, não fila de erro RabbitMQ. Sem OIDC e sem tracing distribuído.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docs/EVOLUCAO_MANUTENCAO.md (sete perguntas do enunciado) e docs/VISAO_NEGOCIO.md. Indicadores: tempo de ativação, recadastro, SLA incorreto, falhas por integração e tempo de diagnóstico.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Fontes: docs/EVIDENCIAS_VALIDACAO.md, seções históricas de 20/10/2026; registro local do commit f1669d78f01e2d279b3de60a999ed778e6c9916e, PR #75, 25/10/2026, https://github.com/Roger-Quinelato/projetoAplicado7/pull/75; logs da CI Verify 40199072801, https://github.com/Roger-Quinelato/projetoAplicado7/actions/runs/40199072801, executada em 25/10 sobre essa main, consultados no GitHub Actions em 28/10/2026. Quatro jobs success: application 252 passed/14 skipped; postgresql 262 passed/4 skipped; rabbitmq 22 passed; e2e 25 passed e axe separado 1 passed. Suítes sobrepostas, sem total agregado. Histórico de 20/10: PostgreSQL 16/RabbitMQ 3.12 locais, contêiner Linux, Python 3.13, 60 clientes, 100 amostras por consulta em 10 consultas de negócio, p95 máximo de 45,1 ms, 22 roteiros de navegador, F1 20/20, F2 14/14 e F3 15/15. O p95 não foi medido novamente na main f1669d7. Verificação local de 28/10: Python 252 aprovados e 14 ignorados, frontend 19 aprovados, TypeScript e OpenAPI check aprovados. Hospedagem pública e PostgreSQL gerenciado sem comprovação.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Fontes: relatório técnico, seções 3.1, 3.4, 4.10 e 5, docs/EVOLUCAO_MANUTENCAO.md e ADR-006 (Proposto). Revisão e reproduções informadas em 28/10/2026: F3 perde a convergência se TicketResolved é consumido antes de recuperar TicketOpened; encerramento de contrato pode deixar processo COMPLETED com tarefa CANCELLED; leitura financeira calcula OVERDUE enquanto o comando de cancelamento usa OPEN persistido. Conferência: src/archcorp/workflow/service.py (handle_ticket_resolved e handle_contract_closed), src/archcorp/finance/service.py (cancel) e domain.py. Defeitos conhecidos não corrigidos nesta revisão documental. Verificação local de 28/10 informada: Python 252 aprovados/14 ignorados, frontend 19 aprovados, TypeScript e OpenAPI check aprovados. Não somar suítes. Marcos previstos conforme orientação da entrega. Nomes e contribuições individuais necessários para a submissão. Premissas e ADR-006 aguardam validação ou aceite. Publicação, OIDC e agendador são evolução. O merge do PR #75 não equivale a aceite docente nem à validação das premissas.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6aefabe09a4ad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55c6165c114fe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93c6cd2fde425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e8d7455be14de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1d972a13db407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f1d0359346452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2F22302-607E-4512-BF2F-3501224708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14BB22B-78CA-4208-9251-2A613260C8C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CF94330-2524-4EBB-AEF8-E29845BE2A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21AE563-DBC9-42F5-B80D-C607DCB7F0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A95F0B2-2A24-40EB-9361-5E15DDDF21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8E8EB24-8293-4430-875A-5C7748B626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19CB7B3-A0DB-46DC-B133-293C706F67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A6BEEC1-7019-4639-8343-154E984ED65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6A42B9C-010B-43A0-B4B9-1357D249C3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C42A9B8-8B44-4C2D-BC31-948054B892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17253465dd47b9" /><Relationship Type="http://schemas.openxmlformats.org/officeDocument/2006/relationships/slideLayout" Target="/ppt/slideLayouts/slideLayout1.xml" Id="Rb41eaf8d157d4840" /><Relationship Type="http://schemas.openxmlformats.org/officeDocument/2006/relationships/slideLayout" Target="/ppt/slideLayouts/slideLayout2.xml" Id="Raa6cf94ebf6942d2" /><Relationship Type="http://schemas.openxmlformats.org/officeDocument/2006/relationships/slideLayout" Target="/ppt/slideLayouts/slideLayout3.xml" Id="R8dbe8aacf4104f9c" /><Relationship Type="http://schemas.openxmlformats.org/officeDocument/2006/relationships/slideLayout" Target="/ppt/slideLayouts/slideLayout4.xml" Id="R3743a4b4ce024896" /><Relationship Type="http://schemas.openxmlformats.org/officeDocument/2006/relationships/slideLayout" Target="/ppt/slideLayouts/slideLayout5.xml" Id="R0da1412da5ec4cf7" /><Relationship Type="http://schemas.openxmlformats.org/officeDocument/2006/relationships/slideLayout" Target="/ppt/slideLayouts/slideLayout6.xml" Id="R2655f55d261a4ac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1eaf8d157d4840"/>
    <p:sldLayoutId xmlns:r="http://schemas.openxmlformats.org/officeDocument/2006/relationships" id="2147483650" r:id="Raa6cf94ebf6942d2"/>
    <p:sldLayoutId xmlns:r="http://schemas.openxmlformats.org/officeDocument/2006/relationships" id="2147483651" r:id="R8dbe8aacf4104f9c"/>
    <p:sldLayoutId xmlns:r="http://schemas.openxmlformats.org/officeDocument/2006/relationships" id="2147483652" r:id="R3743a4b4ce024896"/>
    <p:sldLayoutId xmlns:r="http://schemas.openxmlformats.org/officeDocument/2006/relationships" id="2147483653" r:id="R0da1412da5ec4cf7"/>
    <p:sldLayoutId xmlns:r="http://schemas.openxmlformats.org/officeDocument/2006/relationships" id="2147483654" r:id="R2655f55d261a4ac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e747bc3e9d4185" /><Relationship Type="http://schemas.openxmlformats.org/officeDocument/2006/relationships/notesSlide" Target="/ppt/notesSlides/notesSlide1.xml" Id="R82a00b22600248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5ea545911c4d92" /><Relationship Type="http://schemas.openxmlformats.org/officeDocument/2006/relationships/notesSlide" Target="/ppt/notesSlides/notesSlide2.xml" Id="Rafe2edf07cb44db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f64c904cb24b9a" /><Relationship Type="http://schemas.openxmlformats.org/officeDocument/2006/relationships/image" Target="/ppt/media/image.png" Id="R442d3fdbdb804d02" /><Relationship Type="http://schemas.openxmlformats.org/officeDocument/2006/relationships/notesSlide" Target="/ppt/notesSlides/notesSlide3.xml" Id="R01f2aea18c134e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0d882b5aea4f58" /><Relationship Type="http://schemas.openxmlformats.org/officeDocument/2006/relationships/notesSlide" Target="/ppt/notesSlides/notesSlide4.xml" Id="Rdbe7f6ddeb6845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7394f2a9524319" /><Relationship Type="http://schemas.openxmlformats.org/officeDocument/2006/relationships/notesSlide" Target="/ppt/notesSlides/notesSlide5.xml" Id="Re9238b0ed3c1416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1a1bc919884213" /><Relationship Type="http://schemas.openxmlformats.org/officeDocument/2006/relationships/image" Target="/ppt/media/image2.png" Id="Redaf8f5dac99459a" /><Relationship Type="http://schemas.openxmlformats.org/officeDocument/2006/relationships/notesSlide" Target="/ppt/notesSlides/notesSlide6.xml" Id="R13eda1a739454e9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7b86aa5b294712" /><Relationship Type="http://schemas.openxmlformats.org/officeDocument/2006/relationships/notesSlide" Target="/ppt/notesSlides/notesSlide7.xml" Id="R403ec56f880b4f2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f9dd6ba2e844b2" /><Relationship Type="http://schemas.openxmlformats.org/officeDocument/2006/relationships/notesSlide" Target="/ppt/notesSlides/notesSlide8.xml" Id="R754b64da64cc408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6c2edb9d1c4985" /><Relationship Type="http://schemas.openxmlformats.org/officeDocument/2006/relationships/notesSlide" Target="/ppt/notesSlides/notesSlide9.xml" Id="Rd19cca8407c442c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20f6ca889a4362" /><Relationship Type="http://schemas.openxmlformats.org/officeDocument/2006/relationships/notesSlide" Target="/ppt/notesSlides/notesSlide10.xml" Id="Re6d45eb34ddc400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50612aad8f453c" /><Relationship Type="http://schemas.openxmlformats.org/officeDocument/2006/relationships/notesSlide" Target="/ppt/notesSlides/notesSlide11.xml" Id="R40e6fd469e334c9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db34596ebc4ef3" /><Relationship Type="http://schemas.openxmlformats.org/officeDocument/2006/relationships/notesSlide" Target="/ppt/notesSlides/notesSlide12.xml" Id="R6a0b1733fae84a4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0cd12c31994599" /><Relationship Type="http://schemas.openxmlformats.org/officeDocument/2006/relationships/notesSlide" Target="/ppt/notesSlides/notesSlide13.xml" Id="Rbc4c2b981c684e3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0475b05cbf4580" /><Relationship Type="http://schemas.openxmlformats.org/officeDocument/2006/relationships/notesSlide" Target="/ppt/notesSlides/notesSlide14.xml" Id="R733df380cc5a442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07f69b07534d0d" /><Relationship Type="http://schemas.openxmlformats.org/officeDocument/2006/relationships/notesSlide" Target="/ppt/notesSlides/notesSlide15.xml" Id="R810556cb5a00426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d19dcda2dc4814" /><Relationship Type="http://schemas.openxmlformats.org/officeDocument/2006/relationships/notesSlide" Target="/ppt/notesSlides/notesSlide16.xml" Id="R093e6cf48c0140b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a06c2d5ca44276" /><Relationship Type="http://schemas.openxmlformats.org/officeDocument/2006/relationships/notesSlide" Target="/ppt/notesSlides/notesSlide17.xml" Id="R7350b500d82f4cf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d4c1ae33cd4882" /><Relationship Type="http://schemas.openxmlformats.org/officeDocument/2006/relationships/notesSlide" Target="/ppt/notesSlides/notesSlide18.xml" Id="R43be3e57ef3c40d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65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A34BB2-6415-4ED6-9749-A783D475E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Arquitetura de Integração</a:t>
            </a:r>
          </a:p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 Empresa de Serviços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34B3C5-A2A6-4F48-8C53-8BA55A626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C8DFE2"/>
                </a:solidFill>
                <a:latin typeface="Arial"/>
                <a:ea typeface="Arial"/>
                <a:cs typeface="Arial"/>
              </a:rPr>
              <a:t>Projeto Aplicado  |  Cenário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78BC73-9D93-4172-B43E-38C2B5247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38250"/>
            <a:ext cx="1714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3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E67ADC-C81A-48E3-B0D4-7FAFD883C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91125"/>
            <a:ext cx="1047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Nomes e contribuições individuais ainda não informados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Versão 28/10/2026  ·  Base main f1669d7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Entrega pronta 09/11/2026  ·  Apresentação 23/11/2026 (previstas)</a:t>
            </a:r>
          </a:p>
        </p:txBody>
      </p:sp>
    </p:spTree>
    <p:extLst>
      <p:ext uri="{BB962C8B-B14F-4D97-AF65-F5344CB8AC3E}">
        <p14:creationId xmlns:p14="http://schemas.microsoft.com/office/powerpoint/2010/main" val="16610734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335C8B-E43F-4222-8607-B6FC7173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EBA234-595C-4C62-9105-C2D34E56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Cenário e problema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7B0CFB-0788-4324-9A8E-0C06F852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D8D149-7B95-4B7F-9D93-C2BAB1795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56197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Cinco sistemas corporativos com integrações insuficientes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Duplicidade e lançamentos manuais entre áreas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Falhas difíceis de rastrear e processos fragmentados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Primeira entrega exige arquitetura e três fluxos funcionando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D8A57F-039E-4B1F-8F5C-94452F937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33350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691AFD-7A20-48DE-A2C0-C9B2AAC6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38375"/>
            <a:ext cx="18097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Reservas e contratos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38D867-BDD1-40A3-92D2-BB67F4BC1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Financeiro e faturamento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72EE14-BE14-459F-9105-FEDDA616A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48125"/>
            <a:ext cx="18097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Atendimento e assistência 24h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3228AD-4249-46D3-876B-907D36D3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Processos</a:t>
            </a:r>
          </a:p>
        </p:txBody>
      </p:sp>
    </p:spTree>
    <p:extLst>
      <p:ext uri="{BB962C8B-B14F-4D97-AF65-F5344CB8AC3E}">
        <p14:creationId xmlns:p14="http://schemas.microsoft.com/office/powerpoint/2010/main" val="13376641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EA82A6-C1DB-4580-B3C3-DEB9ECEF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414E2E-8BD6-45BC-8A82-AFF47486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Arquitetura atual AS 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20374A-252C-4EF7-87E4-71DB9AB8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232A1D-FF4C-4CA8-8D80-1CA9A92C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430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Premissa de modelagem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E56E33-948A-4F71-8B17-343D6C500A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2d3fdbdb804d02"/>
          <a:stretch xmlns:a="http://schemas.openxmlformats.org/drawingml/2006/main"/>
        </p:blipFill>
        <p:spPr>
          <a:xfrm xmlns:a="http://schemas.openxmlformats.org/drawingml/2006/main">
            <a:off x="666750" y="1676992"/>
            <a:ext cx="10858500" cy="2408641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9936A9-56F9-4FD1-8DFA-DF65F8218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9810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Recadastro, planilhas e lançamentos manuais ligam as áreas. O enunciado confirma os sistemas e os problemas gerais, mas não informa as interfaces atuais.</a:t>
            </a:r>
          </a:p>
        </p:txBody>
      </p:sp>
    </p:spTree>
    <p:extLst>
      <p:ext uri="{BB962C8B-B14F-4D97-AF65-F5344CB8AC3E}">
        <p14:creationId xmlns:p14="http://schemas.microsoft.com/office/powerpoint/2010/main" val="3988647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6102EE-96FA-47D9-BF09-9BD7449E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F66293-8AC4-47BB-8278-AC6C4A3B8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Requisitos prioritários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5ABC2-F1CF-4333-9E0F-4525A0C2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3CCC3A-2B2C-4FD9-8649-6105A43A7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81125"/>
            <a:ext cx="66675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01 a RF 02: identidade global e contrato sem recadastro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03: ativação cria cobrança e preparação de retirada sem duplicidade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04: chamado consulta contrato, grupo de veículo e SLA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05 a RF 07: propagação cadastral, correlação e reprocessamento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06A441-3A0B-4F27-B487-EC4C56DF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38112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Qualidade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F76592-ACF6-4AC4-91BA-1F2B40EE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52625"/>
            <a:ext cx="3143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Interoperabilidade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Confiabilidade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Segurança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Observabilidade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Manutenibilidade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Disponibilidade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Desempenho</a:t>
            </a:r>
          </a:p>
        </p:txBody>
      </p:sp>
    </p:spTree>
    <p:extLst>
      <p:ext uri="{BB962C8B-B14F-4D97-AF65-F5344CB8AC3E}">
        <p14:creationId xmlns:p14="http://schemas.microsoft.com/office/powerpoint/2010/main" val="20474473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F2F754-873C-4104-965B-B9EE8B65E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FD0B6F-563E-4F01-A384-71ABC8ACA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Decisão arquitetural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A3E201-D138-45B4-BA58-FA3A0A10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1D28E8-35E4-44C3-9D29-EFE2F708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381125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SOA pragmática em monólito modular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A8E860-985A-403F-A180-FCE25F53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9525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Portas e adaptadores preservam as fronteiras dos contextos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REST atende respostas imediatas; eventos representam fatos confirmados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PostgreSQL e RabbitMQ sustentam a demonstração local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Extração futura depende de métricas de escala, disponibilidade ou cadência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71C85D-3A8E-43E3-A60F-4ADFF978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197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ADR 001 aceito para o protótipo acadêmico</a:t>
            </a:r>
          </a:p>
        </p:txBody>
      </p:sp>
    </p:spTree>
    <p:extLst>
      <p:ext uri="{BB962C8B-B14F-4D97-AF65-F5344CB8AC3E}">
        <p14:creationId xmlns:p14="http://schemas.microsoft.com/office/powerpoint/2010/main" val="18204111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AD806D-C1E8-4518-9AFD-173078EA6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66E570-FEDC-47B1-A6E2-D3A5D286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Arquitetura proposta TO BE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CCC297-26DE-41E5-972F-65BC252AE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5DD83C-2377-48CE-8D4A-73D4261260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af8f5dac99459a"/>
          <a:stretch xmlns:a="http://schemas.openxmlformats.org/drawingml/2006/main"/>
        </p:blipFill>
        <p:spPr>
          <a:xfrm xmlns:a="http://schemas.openxmlformats.org/drawingml/2006/main">
            <a:off x="1212891" y="1095375"/>
            <a:ext cx="3384469" cy="5191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0653C6-0CA9-43D4-910A-2BA30597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428750"/>
            <a:ext cx="57150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Cinco contextos de negócio com dados próprios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CustomerReader e ContractEntitlementPort ligam contextos por portas públicas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Outbox, dispatcher e inbox entregam eventos sem duplicar efeitos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Auditoria e correlationId atravessam toda a operação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603FDF-F0D7-470A-8294-756D630D8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2925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Um processo, fronteiras preservadas por interfaces públicas</a:t>
            </a:r>
          </a:p>
        </p:txBody>
      </p:sp>
    </p:spTree>
    <p:extLst>
      <p:ext uri="{BB962C8B-B14F-4D97-AF65-F5344CB8AC3E}">
        <p14:creationId xmlns:p14="http://schemas.microsoft.com/office/powerpoint/2010/main" val="15830826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409CBA-4961-4347-87E7-025E85F6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DFCB02-AB6C-4AC5-A13B-18034DE4C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Sistemas corporativos envolvidos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0C9736-0B23-40C4-B25F-EC89F849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C61B60-5036-4BC4-9840-4FF31B42F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4CD303-1A40-4E24-9815-5EFBEFDB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4573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CRM operacional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E3E8ED-50AA-443A-B3D1-AC840FCF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573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Fonte oficial do cliente; fornece dados a Contracts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C777C9-8A3B-41B7-902A-F217F9F8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Reservas e contratos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1701FF-33BB-4F68-9BC5-653A11C9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098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Sistema de contratos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F67298-0A01-4FAA-99F6-486446D0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098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Reserva, contrato e SLA; publica eventos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D60308-7599-4175-B791-828D547D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908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Financeiro e faturamento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38644-66D7-4D93-A5E0-8094F7E13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3623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Módulo financeiro de ERP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305D72-2909-4CEB-9DF6-82ABD60C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623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Faturas e pagamentos por eventos de contrato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29FEC2-7533-495C-AB3C-FEAD13FA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433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Atendimento 24h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9FAAE1-5F74-4127-AB04-08778AFF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148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Sistema de atendimento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457411-D8AE-4650-B633-D91D8C5E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148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Chamado com SLA consultado em Contracts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9D7817-564C-4FB7-AD80-C8439F20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Gestão de processos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4B0896-9D4D-4D5C-8752-6D7C68EF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2673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BPM /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B2AB50-E4F2-4E81-88ED-9EBCDFDC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673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Retirada e resolução iniciadas por eventos</a:t>
            </a:r>
          </a:p>
        </p:txBody>
      </p:sp>
    </p:spTree>
    <p:extLst>
      <p:ext uri="{BB962C8B-B14F-4D97-AF65-F5344CB8AC3E}">
        <p14:creationId xmlns:p14="http://schemas.microsoft.com/office/powerpoint/2010/main" val="2893555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BED1FE-7BFD-43D8-824A-7ED81E844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E52E5D-C938-4E04-A0B8-C0540BBF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Propriedade dos dados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8FDC1A-2226-4932-AC79-DE0E3928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B565D3-DE61-4994-9EDF-11549C5F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382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9B7356-2ECD-4FFA-A23E-197EA0E4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2382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Cliente, contato, consentimento, perfil de locação e oportunidade corporativa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0B3C58-EE1C-4534-8D8D-23B7E836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193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Contracts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E51E81-809E-4898-B854-F7E30919F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193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Reserva, contrato de locação, grupo de veículo, vigência, proteções e SLA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7E234D-AE82-4F74-862D-7C3615E1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003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Finance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A761F8-2495-468D-A9D7-B442A5479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003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Pré-autorização, cobrança, fatura, pagamento, caução, multa e inadimplência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CEAACD-A8F9-471D-B25B-59BB8CEA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814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Support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7BC676-C41F-4038-9516-5CF7DA23F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814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Chamado, assistência, prioridade, histórico e resolução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1664C6-24D8-4702-9F1D-B6B5A1B9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624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73505E-9AF5-4EFC-B1E1-A28EBA38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624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Instância, tarefa, responsável, prazo e estado operacional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E53C14-CD57-47FC-9DE1-6E12D1D20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Integration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E5B7E9-0A68-40B9-A874-A46BA01BA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1435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IDs legados, correlação, outbox, inbox e falhas</a:t>
            </a:r>
          </a:p>
        </p:txBody>
      </p:sp>
    </p:spTree>
    <p:extLst>
      <p:ext uri="{BB962C8B-B14F-4D97-AF65-F5344CB8AC3E}">
        <p14:creationId xmlns:p14="http://schemas.microsoft.com/office/powerpoint/2010/main" val="3348374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9E70A1-65C8-4B33-BFE3-6E03D457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C87233-1984-4983-B8EE-B2ED28A4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APIs e contratos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1469C1-131F-4A54-ACF3-6094BB650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52323D-D9B0-4E3D-9C4B-3B4870DA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72390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 /api/v1/contracts/reservations/{id}/draft  ·  F1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 /api/v1/contracts/{id}/activate  ·  F2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 /api/v1/support/tickets  ·  F3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 /api/v1/integration/outbox/dispatch  ·  entrega de eventos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GET /api/v1/operations/{correlationId}  ·  trilha consolidada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406DDB-A2DF-4173-AF41-1A7D47B9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28750"/>
            <a:ext cx="2762250" cy="1143000"/>
          </a:xfrm>
          <a:prstGeom xmlns:a="http://schemas.openxmlformats.org/drawingml/2006/main" prst="roundRect">
            <a:avLst>
              <a:gd name="adj" fmla="val 11667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OpenAPI 3.1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Swagger em /docs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7A070F-D4C3-4DB2-8D11-C4DAB064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2762250" cy="1143000"/>
          </a:xfrm>
          <a:prstGeom xmlns:a="http://schemas.openxmlformats.org/drawingml/2006/main" prst="roundRect">
            <a:avLst>
              <a:gd name="adj" fmla="val 11667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AsyncAPI 3.0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6 eventos v1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854349-887C-4C80-938B-8F179D81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86250"/>
            <a:ext cx="2762250" cy="1143000"/>
          </a:xfrm>
          <a:prstGeom xmlns:a="http://schemas.openxmlformats.org/drawingml/2006/main" prst="roundRect">
            <a:avLst>
              <a:gd name="adj" fmla="val 11667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problem+json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code e correlationId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CA67F3-6154-45FB-AB0E-1F0DA6690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Comandos repetíveis aceitam Idempotency-Key</a:t>
            </a:r>
          </a:p>
        </p:txBody>
      </p:sp>
    </p:spTree>
    <p:extLst>
      <p:ext uri="{BB962C8B-B14F-4D97-AF65-F5344CB8AC3E}">
        <p14:creationId xmlns:p14="http://schemas.microsoft.com/office/powerpoint/2010/main" val="214337458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652935-0135-447D-B292-4723B1163553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477000" y="2857500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5C28A6-4EFD-4F08-BA19-46F874BA5766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048000" y="28575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8BB7EB-F761-4D4C-B6F1-CE014F37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ED6DCB-7A5F-45C0-A38F-4B20609D5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F1 Cliente para reserva/contrato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2CA445-9B14-4DB6-91C9-4DF9F3D96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D2DA12-A3E2-4140-8AD4-EF7BEE12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209550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 elegível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0D5546-0889-49AF-A3BA-BAFAC8B4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33625"/>
            <a:ext cx="2381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POST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/contracts/drafts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99E4EA-7702-4808-8D75-25D6CE59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33625"/>
            <a:ext cx="2381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rascunho DRAFT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509EA9-6C3C-4504-ABE6-05CD19AA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000500"/>
            <a:ext cx="7905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Idempotency Key devolve o mesmo contractId em uma repetição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1A5814-3094-4A3D-9320-C8263F29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667250"/>
            <a:ext cx="7905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CRM fora do ar: retentativa limitada com jitter e 503 sem efeito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83107D-F279-4A8A-9BE0-B7D92DE08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29250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F1 histórico: 20/20 checagens (20/10)</a:t>
            </a:r>
          </a:p>
        </p:txBody>
      </p:sp>
    </p:spTree>
    <p:extLst>
      <p:ext uri="{BB962C8B-B14F-4D97-AF65-F5344CB8AC3E}">
        <p14:creationId xmlns:p14="http://schemas.microsoft.com/office/powerpoint/2010/main" val="4542946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6036B1-CA3A-4E3D-AF9A-EF5B504039C5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000750" y="2952750"/>
            <a:ext cx="1333500" cy="9048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738231-D583-42BD-ABF9-A4C8B7F27237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6000750" y="2143125"/>
            <a:ext cx="1333500" cy="8096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158F6A-DD21-4D59-941D-39AFE2763E4A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667000" y="2952750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C8D0C5-198D-4B22-86BC-88689B1C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23AF2C-704C-4B0D-90C2-F4E0631A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F2 Ativação cobrança e preparação de retirada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3B975A-CF8D-413E-9DC1-A782B88AD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521CF9-78BE-4A25-AFBD-A80BE933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9050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ACTIVE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03E73B-96E9-4CEA-AA5D-EE3B42F6C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76500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Outbox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ContractActivated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603890-0CC4-4483-B63F-BF4BD491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7145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1 cobrança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3DEC25-5603-4F28-8DEE-69898B48F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290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1 preparação de retirada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676A44-4AB3-47BC-8E1E-88982A542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57750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Inbox e restrições únicas impedem efeitos duplicados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B42EC4-F1F3-44A5-A1D5-606C2DE8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524500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F2 histórico: 14/14 checagens (20/10)</a:t>
            </a:r>
          </a:p>
        </p:txBody>
      </p:sp>
    </p:spTree>
    <p:extLst>
      <p:ext uri="{BB962C8B-B14F-4D97-AF65-F5344CB8AC3E}">
        <p14:creationId xmlns:p14="http://schemas.microsoft.com/office/powerpoint/2010/main" val="13792346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4D1B37-5662-46CD-8DB9-5ADD6656C63D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381750" y="3952875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BCB684-519F-4B51-8762-EFE8CA70AC2D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5143500" y="2476500"/>
            <a:ext cx="0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3D7872-3BA7-4465-874A-1199C8D6FBF7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2857500" y="2000250"/>
            <a:ext cx="1047750" cy="8572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ADAE7B-8064-47DD-B8F4-F495A010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9A95D3-9A76-4F54-B0DD-D09D9EEF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F3 Chamado com SLA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18CF2B-47E2-4446-B6A0-F386F3EF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24B3F7-A897-4856-87DA-19D1C982B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2095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Support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abrir chamado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1478A5-36FE-4406-B8F3-A103032BE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24000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elegibilidade e SLA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C9F2C2-7DB5-4F65-AC94-DB547592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76625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Ticket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OPEN ou PENDING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4F0393-D46D-4116-A904-4085402A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76625"/>
            <a:ext cx="21907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resolução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043FCE-642B-468D-AD09-5B6B143F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1009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Limite conhecido: resolução antes da abertura pode deixar processo STARTED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4840C9-4C87-472C-A1D7-CD4C8254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619750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F3 histórico: 15/15 checagens (20/10)</a:t>
            </a:r>
          </a:p>
        </p:txBody>
      </p:sp>
    </p:spTree>
    <p:extLst>
      <p:ext uri="{BB962C8B-B14F-4D97-AF65-F5344CB8AC3E}">
        <p14:creationId xmlns:p14="http://schemas.microsoft.com/office/powerpoint/2010/main" val="116891626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C00EFB-94EA-4F1F-85FA-BAD20548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81F471-ADA9-49F4-A031-D194DB36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Interoperabilidade e reservas e contratos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73A162-FCBE-417F-AA42-FF9B808E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3E39E4-E9EB-43C3-BC19-E354C7FC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381125"/>
            <a:ext cx="68580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UUID global com identificadores legados associados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JSON UTF 8, UTC ISO 8601 e moeda explícita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OpenAPI para REST e AsyncAPI para eventos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Fonte oficial vence; divergência fica auditada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Mudança incompatível cria uma nova versão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89B5DF-54EA-483C-916D-B2C298B1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33500"/>
            <a:ext cx="2381250" cy="37147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eventType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eventVersion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occurredAt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correlationId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causationId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producer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payload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66D15B-4CD3-42C6-801D-F9C0C7949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2863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Envelope obrigatório</a:t>
            </a:r>
          </a:p>
        </p:txBody>
      </p:sp>
    </p:spTree>
    <p:extLst>
      <p:ext uri="{BB962C8B-B14F-4D97-AF65-F5344CB8AC3E}">
        <p14:creationId xmlns:p14="http://schemas.microsoft.com/office/powerpoint/2010/main" val="2146097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40E2A3-3214-4957-88CB-F00F2627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ADAA69-384E-474F-A19A-FA4D9789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Análise de qualidade arquitetural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3C599B-ADFB-437D-9279-984F112C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6571E3-518C-4A8B-8793-94D1A2C0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Atributo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AA7B8A-8A27-425D-BDFC-FF4D89A08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906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Risco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2B6648-B831-47F3-A80A-D4057D97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19062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Estratégia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5999FB-EFF2-42EE-A55C-B3E71AAA9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9062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Resultado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6D258C-C2CA-420F-B3E2-B2E9E45D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Interoperabilidade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7A4886-79BE-4F6E-96C5-BBCE800C3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1450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 errado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165131-128A-45F2-BE5B-ED54140B4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145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UUID global e IDs legados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76F2AF-89E9-42EC-B6E2-F4D0FC35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145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Mesma identidade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8A216F-3BB8-4139-B3F2-D1D77358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Confiabilidade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1789D9-A58A-474F-94A8-3659B6283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9555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Cobrança dupla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542756-C59C-4EE5-925E-624EEE86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9555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Outbox, inbox e idempotência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0205C3-307C-4898-A7C9-A20BD9A6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955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Um efeito por fato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FB5338-B332-4E34-9F66-318B049F0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Disponibilidade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99F6D8-3E62-4641-94DF-5B6A1F22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7660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Chamado perdido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6EBB68-A5D8-4D4C-9452-14B2FEBB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766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Estado pendente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1D1334-B793-4A89-B5E0-669310C2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766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Reconciliação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954D60-5361-4DCD-941B-49886A92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Manutenibilidade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973B10-FF55-456D-ADFD-CDD0499A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5765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Acoplamento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BF26E9-6A75-4576-8062-404A21AF5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5765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Portas e teste de fronteira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1C19E2-8CE6-4E15-A24A-DED706DB1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576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Mudança local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FE2E2C-0E63-4819-B98E-66CE4C5B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387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Desempenho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91793F-8854-43F7-AD4E-70A2DCB8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3870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Latência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955FE3-F33C-423E-BA42-C3E6D27B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387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API sem estado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2B91F2-EC0F-436C-B1FB-8C9DC001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8387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p95 45,1 ms (20/10)</a:t>
            </a:r>
          </a:p>
        </p:txBody>
      </p:sp>
    </p:spTree>
    <p:extLst>
      <p:ext uri="{BB962C8B-B14F-4D97-AF65-F5344CB8AC3E}">
        <p14:creationId xmlns:p14="http://schemas.microsoft.com/office/powerpoint/2010/main" val="133988865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70811A-325D-46F4-854D-FC1F8AA1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387ED7-4C79-4D86-98C7-91911E15D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Confiabilidade segurança e observabilidade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2DC33A-7E19-4EA0-81FD-D6216D6B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A8F1C7-4EBB-45D2-BE8D-18DDFE6D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Confiabilidade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F003F3-5DB7-42E3-9634-80520A85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 e inbox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Idempotency Key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Estado FAILED e reprocessamento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846D04-72F4-48E7-B920-56A23F99B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3811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Segurança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07BED9-FDA1-4A58-892F-A6EA6A97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Tokens locais ou segredo compartilhado e RBAC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Credenciais comparadas em bytes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Erros sem mensagem sensível nos logs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4AA109-EE20-4BEE-9E39-89568EDC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381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Observabilidade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896AA7-67D0-4366-B9D2-3A2C823C0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Correlação ponta a ponta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Logs JSON e métricas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Health checks e auditoria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3ABF47-1BC5-41FB-91C3-B22C85AB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10125"/>
            <a:ext cx="10287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Testes de reprocessamento cobrem cenários específicos.</a:t>
            </a:r>
          </a:p>
          <a:p xmlns:a="http://schemas.openxmlformats.org/drawingml/2006/main">
            <a: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Convergência de eventos e coerência de estados têm defeitos conhecidos.</a:t>
            </a:r>
          </a:p>
        </p:txBody>
      </p:sp>
    </p:spTree>
    <p:extLst>
      <p:ext uri="{BB962C8B-B14F-4D97-AF65-F5344CB8AC3E}">
        <p14:creationId xmlns:p14="http://schemas.microsoft.com/office/powerpoint/2010/main" val="81053104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6D9C80-FAC1-4C4A-9374-1DB79086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29900D-2D89-4580-AFB5-01899407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Escalabilidade manutenção e evolução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903CAF-104F-4B97-A567-100FEA7FA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668094-FD7C-4058-BA05-44207BDBE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Escalabilidade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AEF803-B012-4005-B3C3-1323DB2E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05000"/>
            <a:ext cx="3429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Réplicas da API sem estado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Consumidores idempotentes por fila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Extração só com métricas e ADR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2440A0-BC19-40B7-BBAF-B0E6CB39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333500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Manutenção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81CC70-6981-49C6-A081-35D65C52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05000"/>
            <a:ext cx="3429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Mudança no contexto proprietário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Novos sistemas por adaptadores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Testes de contrato e de fronteira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F71525-0691-4737-95D1-44DC446DA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333500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Evolução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F842B8-BF31-494B-93EC-E9222FC7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905000"/>
            <a:ext cx="3429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Contratos aditivos; quebra cria v2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Migrações aditivas (ADR-002)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Atualização gradual por versão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9C2E4E-6BDD-4238-A24B-B9C8A3AD1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4350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Viabilidade: um implantável, serviços gratuitos (não custo zero) e equipe júnior; custos reais a levantar</a:t>
            </a:r>
          </a:p>
        </p:txBody>
      </p:sp>
    </p:spTree>
    <p:extLst>
      <p:ext uri="{BB962C8B-B14F-4D97-AF65-F5344CB8AC3E}">
        <p14:creationId xmlns:p14="http://schemas.microsoft.com/office/powerpoint/2010/main" val="119574872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56AEB4-1D95-48E9-8CA2-867DAF29C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D19A29-E102-4215-A00A-B1CB8E48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Evidências e versão de referência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5C8602-8FD5-4279-B47A-3E9724A6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6A8522-EE7B-42CB-A0E1-88D83B2A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333500"/>
            <a:ext cx="514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Histórico de 20/10/2026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DC8CAC-8ABF-40B3-BE0C-BFBBFE82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519112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246 testes com PostgreSQL e RabbitMQ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232 aprovados e 14 ignorados em SQLite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22 roteiros de navegador aprovados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p95 máximo de 45,1 ms em consultas locais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B6FD06-3FC3-4C94-9568-DE1E8F49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333500"/>
            <a:ext cx="514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CI da main f1669d7 em 25/10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AC997F-A0FE-4F3D-8624-65F01D7A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047875"/>
            <a:ext cx="5048250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application: 252 aprovados, 14 ignorados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postgresql: 262 aprovados, 4 ignorados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rabbitmq: 22 aprovados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e2e: 25 aprovados; axe: 1 aprovado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CEC7AE-EFE3-444B-BDE1-C1E42862A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8637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CI 40199072801 com quatro jobs concluídos com sucesso.</a:t>
            </a:r>
          </a:p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As suítes se sobrepõem. Não somar as contagens. p95 histórico de 20/10.</a:t>
            </a:r>
          </a:p>
        </p:txBody>
      </p:sp>
    </p:spTree>
    <p:extLst>
      <p:ext uri="{BB962C8B-B14F-4D97-AF65-F5344CB8AC3E}">
        <p14:creationId xmlns:p14="http://schemas.microsoft.com/office/powerpoint/2010/main" val="147235001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2092BF-7F5C-4EB3-A6CB-C54E9500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AC1357-2E17-4B9C-98F1-8509340D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Conclusões e marcos da entrega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2E6A57-4F2E-413D-973A-1B59182B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6D6615-E61F-4043-ACD3-074A7E299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Conclusões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064C00-D92A-4F6E-B267-CBC13773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47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Os três fluxos têm evidências no protótipo acadêmico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Contratos e fronteiras permitem evolução incremental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Testes aprovados não garantem convergência em todos os casos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85B796-BD95-4023-8DB6-C1B76F8E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38112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Limites e evolução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33BBD3-E51D-4D0A-9296-0FB6F0DD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952625"/>
            <a:ext cx="4762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F3 pode permanecer STARTED após resolução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Processo COMPLETED pode ter tarefa CANCELLED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Fatura exibida OVERDUE pode ser cancelada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Nomes e contribuições individuais pendentes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A0E840-E4C6-48A6-BC48-5C42CCB5A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143500"/>
            <a:ext cx="904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Entrega pronta prevista para 09/11/2026</a:t>
            </a:r>
          </a:p>
          <a:p xmlns:a="http://schemas.openxmlformats.org/drawingml/2006/main">
            <a: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Apresentação prevista para 23/11/2026</a:t>
            </a:r>
          </a:p>
        </p:txBody>
      </p:sp>
    </p:spTree>
    <p:extLst>
      <p:ext uri="{BB962C8B-B14F-4D97-AF65-F5344CB8AC3E}">
        <p14:creationId xmlns:p14="http://schemas.microsoft.com/office/powerpoint/2010/main" val="5178091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2026-10-28T15:46:23.0460000Z</dcterms:created>
  <dcterms:modified xsi:type="dcterms:W3CDTF">2026-10-28T15:46:23.0470000Z</dcterms:modified>
</coreProperties>
</file>